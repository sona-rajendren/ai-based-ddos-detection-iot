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4f33f68114864" /><Relationship Type="http://schemas.openxmlformats.org/officeDocument/2006/relationships/extended-properties" Target="/docProps/app.xml" Id="R30d678af3c1147b1" /><Relationship Type="http://schemas.openxmlformats.org/officeDocument/2006/relationships/officeDocument" Target="/ppt/presentation.xml" Id="R6329394f17af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78503e11d468b"/>
  </p:sldMasterIdLst>
  <p:notesMasterIdLst>
    <p:notesMasterId xmlns:r="http://schemas.openxmlformats.org/officeDocument/2006/relationships" r:id="R45ef9a2da8d445ce"/>
  </p:notesMasterIdLst>
  <p:sldIdLst>
    <p:sldId xmlns:r="http://schemas.openxmlformats.org/officeDocument/2006/relationships" id="256" r:id="Ra3418646fe55473d"/>
    <p:sldId xmlns:r="http://schemas.openxmlformats.org/officeDocument/2006/relationships" id="257" r:id="Rab1dfc350c634f55"/>
    <p:sldId xmlns:r="http://schemas.openxmlformats.org/officeDocument/2006/relationships" id="258" r:id="Rf953fcf222b44b84"/>
    <p:sldId xmlns:r="http://schemas.openxmlformats.org/officeDocument/2006/relationships" id="259" r:id="Rc668d8708dec4242"/>
    <p:sldId xmlns:r="http://schemas.openxmlformats.org/officeDocument/2006/relationships" id="260" r:id="R2a3fa74cb1d44166"/>
    <p:sldId xmlns:r="http://schemas.openxmlformats.org/officeDocument/2006/relationships" id="261" r:id="R748647c74b08431c"/>
    <p:sldId xmlns:r="http://schemas.openxmlformats.org/officeDocument/2006/relationships" id="262" r:id="R8bbd2e12af544adc"/>
    <p:sldId xmlns:r="http://schemas.openxmlformats.org/officeDocument/2006/relationships" id="263" r:id="R9e7861c40de4457c"/>
    <p:sldId xmlns:r="http://schemas.openxmlformats.org/officeDocument/2006/relationships" id="264" r:id="Rd615e09c4de24cfc"/>
    <p:sldId xmlns:r="http://schemas.openxmlformats.org/officeDocument/2006/relationships" id="265" r:id="R2d41bcb70d7547aa"/>
    <p:sldId xmlns:r="http://schemas.openxmlformats.org/officeDocument/2006/relationships" id="266" r:id="R9b8960b579b940f5"/>
    <p:sldId xmlns:r="http://schemas.openxmlformats.org/officeDocument/2006/relationships" id="267" r:id="Reef6bf3f329d4c66"/>
    <p:sldId xmlns:r="http://schemas.openxmlformats.org/officeDocument/2006/relationships" id="268" r:id="Re89fab388e344fbe"/>
    <p:sldId xmlns:r="http://schemas.openxmlformats.org/officeDocument/2006/relationships" id="269" r:id="R087ff74e0b9846b7"/>
    <p:sldId xmlns:r="http://schemas.openxmlformats.org/officeDocument/2006/relationships" id="270" r:id="R73720a819ba24a02"/>
    <p:sldId xmlns:r="http://schemas.openxmlformats.org/officeDocument/2006/relationships" id="271" r:id="R710f00e4167a4d37"/>
    <p:sldId xmlns:r="http://schemas.openxmlformats.org/officeDocument/2006/relationships" id="272" r:id="R866ea43821e64c5b"/>
    <p:sldId xmlns:r="http://schemas.openxmlformats.org/officeDocument/2006/relationships" id="273" r:id="R36b344942f6d4d2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8698a5b754954" /><Relationship Type="http://schemas.openxmlformats.org/officeDocument/2006/relationships/slideMaster" Target="/ppt/slideMasters/slideMaster1.xml" Id="R35878503e11d468b" /><Relationship Type="http://schemas.openxmlformats.org/officeDocument/2006/relationships/notesMaster" Target="/ppt/notesMasters/notesMaster1.xml" Id="R45ef9a2da8d445ce" /><Relationship Type="http://schemas.openxmlformats.org/officeDocument/2006/relationships/presProps" Target="/ppt/presProps.xml" Id="R01aa35586d064c6b" /><Relationship Type="http://schemas.openxmlformats.org/officeDocument/2006/relationships/viewProps" Target="/ppt/viewProps.xml" Id="Rf8b4dd03a0b94c22" /><Relationship Type="http://schemas.openxmlformats.org/officeDocument/2006/relationships/tableStyles" Target="/ppt/tableStyles.xml" Id="R4113a2248e924015" /><Relationship Type="http://schemas.openxmlformats.org/officeDocument/2006/relationships/slide" Target="/ppt/slides/slide1.xml" Id="Ra3418646fe55473d" /><Relationship Type="http://schemas.openxmlformats.org/officeDocument/2006/relationships/slide" Target="/ppt/slides/slide2.xml" Id="Rab1dfc350c634f55" /><Relationship Type="http://schemas.openxmlformats.org/officeDocument/2006/relationships/slide" Target="/ppt/slides/slide3.xml" Id="Rf953fcf222b44b84" /><Relationship Type="http://schemas.openxmlformats.org/officeDocument/2006/relationships/slide" Target="/ppt/slides/slide4.xml" Id="Rc668d8708dec4242" /><Relationship Type="http://schemas.openxmlformats.org/officeDocument/2006/relationships/slide" Target="/ppt/slides/slide5.xml" Id="R2a3fa74cb1d44166" /><Relationship Type="http://schemas.openxmlformats.org/officeDocument/2006/relationships/slide" Target="/ppt/slides/slide6.xml" Id="R748647c74b08431c" /><Relationship Type="http://schemas.openxmlformats.org/officeDocument/2006/relationships/slide" Target="/ppt/slides/slide7.xml" Id="R8bbd2e12af544adc" /><Relationship Type="http://schemas.openxmlformats.org/officeDocument/2006/relationships/slide" Target="/ppt/slides/slide8.xml" Id="R9e7861c40de4457c" /><Relationship Type="http://schemas.openxmlformats.org/officeDocument/2006/relationships/slide" Target="/ppt/slides/slide9.xml" Id="Rd615e09c4de24cfc" /><Relationship Type="http://schemas.openxmlformats.org/officeDocument/2006/relationships/slide" Target="/ppt/slides/slide10.xml" Id="R2d41bcb70d7547aa" /><Relationship Type="http://schemas.openxmlformats.org/officeDocument/2006/relationships/slide" Target="/ppt/slides/slide11.xml" Id="R9b8960b579b940f5" /><Relationship Type="http://schemas.openxmlformats.org/officeDocument/2006/relationships/slide" Target="/ppt/slides/slide12.xml" Id="Reef6bf3f329d4c66" /><Relationship Type="http://schemas.openxmlformats.org/officeDocument/2006/relationships/slide" Target="/ppt/slides/slide13.xml" Id="Re89fab388e344fbe" /><Relationship Type="http://schemas.openxmlformats.org/officeDocument/2006/relationships/slide" Target="/ppt/slides/slide14.xml" Id="R087ff74e0b9846b7" /><Relationship Type="http://schemas.openxmlformats.org/officeDocument/2006/relationships/slide" Target="/ppt/slides/slide15.xml" Id="R73720a819ba24a02" /><Relationship Type="http://schemas.openxmlformats.org/officeDocument/2006/relationships/slide" Target="/ppt/slides/slide16.xml" Id="R710f00e4167a4d37" /><Relationship Type="http://schemas.openxmlformats.org/officeDocument/2006/relationships/slide" Target="/ppt/slides/slide17.xml" Id="R866ea43821e64c5b" /><Relationship Type="http://schemas.openxmlformats.org/officeDocument/2006/relationships/slide" Target="/ppt/slides/slide18.xml" Id="R36b344942f6d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fd66a6e0a46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f782da5dd4a12" /><Relationship Type="http://schemas.openxmlformats.org/officeDocument/2006/relationships/notesMaster" Target="/ppt/notesMasters/notesMaster1.xml" Id="R3fab94cb008a42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5d26732e954b80" /><Relationship Type="http://schemas.openxmlformats.org/officeDocument/2006/relationships/notesMaster" Target="/ppt/notesMasters/notesMaster1.xml" Id="Rbe5137f2321e4a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9df280e21481e" /><Relationship Type="http://schemas.openxmlformats.org/officeDocument/2006/relationships/notesMaster" Target="/ppt/notesMasters/notesMaster1.xml" Id="R54b2a7b39d26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bdb54773544d3" /><Relationship Type="http://schemas.openxmlformats.org/officeDocument/2006/relationships/notesMaster" Target="/ppt/notesMasters/notesMaster1.xml" Id="R9b2195359174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63f2533b8d433b" /><Relationship Type="http://schemas.openxmlformats.org/officeDocument/2006/relationships/notesMaster" Target="/ppt/notesMasters/notesMaster1.xml" Id="Rad58e229a91446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74d545191434a" /><Relationship Type="http://schemas.openxmlformats.org/officeDocument/2006/relationships/notesMaster" Target="/ppt/notesMasters/notesMaster1.xml" Id="R3635175f2f1e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ffc8f82719406d" /><Relationship Type="http://schemas.openxmlformats.org/officeDocument/2006/relationships/notesMaster" Target="/ppt/notesMasters/notesMaster1.xml" Id="Re1ac0200ff66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5390fbe0b74f45" /><Relationship Type="http://schemas.openxmlformats.org/officeDocument/2006/relationships/notesMaster" Target="/ppt/notesMasters/notesMaster1.xml" Id="R768b0c9b55134e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b26842a9304bf0" /><Relationship Type="http://schemas.openxmlformats.org/officeDocument/2006/relationships/notesMaster" Target="/ppt/notesMasters/notesMaster1.xml" Id="R970c12e5bd0a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c7dc19eb824d32" /><Relationship Type="http://schemas.openxmlformats.org/officeDocument/2006/relationships/notesMaster" Target="/ppt/notesMasters/notesMaster1.xml" Id="Rde9ab7eb39a144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03af17e7654fa4" /><Relationship Type="http://schemas.openxmlformats.org/officeDocument/2006/relationships/notesMaster" Target="/ppt/notesMasters/notesMaster1.xml" Id="Re692693e5cc748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91cc85abf9425d" /><Relationship Type="http://schemas.openxmlformats.org/officeDocument/2006/relationships/notesMaster" Target="/ppt/notesMasters/notesMaster1.xml" Id="Ra9b0bd12b96b42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fa0c006dba4fe9" /><Relationship Type="http://schemas.openxmlformats.org/officeDocument/2006/relationships/notesMaster" Target="/ppt/notesMasters/notesMaster1.xml" Id="R12e7c6f30c1e41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781ef484c540c0" /><Relationship Type="http://schemas.openxmlformats.org/officeDocument/2006/relationships/notesMaster" Target="/ppt/notesMasters/notesMaster1.xml" Id="Ra0a40e5df8604c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cd6a36d861457d" /><Relationship Type="http://schemas.openxmlformats.org/officeDocument/2006/relationships/notesMaster" Target="/ppt/notesMasters/notesMaster1.xml" Id="R3c059167cbd147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b5fd3cf8894e01" /><Relationship Type="http://schemas.openxmlformats.org/officeDocument/2006/relationships/notesMaster" Target="/ppt/notesMasters/notesMaster1.xml" Id="R7f84a4faac3a47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835c4c12714f18" /><Relationship Type="http://schemas.openxmlformats.org/officeDocument/2006/relationships/notesMaster" Target="/ppt/notesMasters/notesMaster1.xml" Id="R953b5774d51a4e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e70292cb424cc1" /><Relationship Type="http://schemas.openxmlformats.org/officeDocument/2006/relationships/notesMaster" Target="/ppt/notesMasters/notesMaster1.xml" Id="Rdce82f67b26e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fd6b426d242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3aded03144d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cfefc3f6f4b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e58892c3a4c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9fff26c7a4e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94dfc334f4e3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dd8032fec43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aab26759f40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0e201623c4d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ae7d66df14bd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6e3ffe3804c6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F3423-9EF3-4A80-B2C4-4EA91A879F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D1AD8FB-C5EA-4AB3-8C32-AFE9D13D3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B984284-C742-4CDE-BCD1-55F1EACCE4BD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FAC8F4A-8BCF-4389-A68F-ABDBB8A3846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3226DC-8E06-429D-BBD6-9C6A3EB9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7D15F2-393B-460B-9364-7537D97931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8400D6F-81A6-4CA0-8B3C-34372C62B661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15EC703-C051-410C-8BA1-62752E291E8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E90A69-5F6D-41A4-B406-395650210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CB6807-EBCC-4402-A3C3-6E24FE85C0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63234D9-D072-4920-821D-BED01FCB7247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9A17B78-0E85-43B3-B804-1DD2F629C18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3363C2-18E3-4469-8BDD-7D7AD0724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F20CAE-C76F-4A3D-98C3-7F935F2F5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F37CCC7-ADFD-4CDA-9720-CE21D000198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4A9FD15-50EB-4E55-A7AC-5D569B5B3C80}" type="datetime1">
              <a:t>10/24/2026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10EC4D6-2A5D-45C1-86E3-8BE19A62D20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D41AF5-9D75-477D-8A32-958A7066B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FF7DB4-0A68-4428-BD4E-C8CC806B6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2BC48C5-0E7A-4A78-B74E-6CF3798C6A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B5A6D68-6C5F-4143-B7B6-D7D735C420C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BA745A-4BAD-455D-9D1F-85191F331A0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C50B61E-D197-4188-943F-30B5936FC2F9}" type="datetime1">
              <a:t>10/24/2026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7F6C894-F542-45DE-85A4-2725CE92499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9A8D50-C296-42AD-83EB-3D23CA8EC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BD41E7F-6671-4D2D-B6AD-20E102447CE3}" type="datetime1">
              <a:t>10/24/2026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89318FD-4EEC-4C57-A972-0B24B85155E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AE11748-68B0-424D-A128-8EE4A2F1567E}" type="datetime1">
              <a:t>10/24/2026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2F195F4C-44D2-4F45-A0AC-21646A9D27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39B3BD-54E0-4D73-9EF1-9064E9CAA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F37052-7EC7-4248-B9E4-59FDDD710F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833FC7-5DAF-49B7-91CA-B7B7D506C2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094E8B7-7DCF-4AE2-ACBE-26DA6EBB7347}" type="datetime1">
              <a:t>10/24/2026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CD429D7-E526-4101-969E-B40B8D8E48C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1A109-E222-4179-A13B-688511EB7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C11A2C5-D77A-42F3-A36D-63B961B741F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5382CB2-3942-4FA2-B2D1-E474A27D1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58AEAC7-C2C3-44AF-AB2E-36A1774D5378}" type="datetime1">
              <a:t>10/24/2026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6FD7F1-16F9-4E12-83AD-C4245146BA5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B1CA71-E40D-4080-AE7C-F53D501AF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114416-C17C-43BC-BF40-AA20666AE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702336F-006F-49C3-8FF0-2416E12056BA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3CA2AFE-CAB8-4467-80DC-C3A4FC1E271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93C402F-07B6-42DB-8888-EF1CDA095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6B8B91-391E-4D66-8E58-50C678AA1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C683BFA-96BB-4329-BF2F-32F59AFA4E79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DDD8426-6957-4B5B-B927-2BE994D1B7C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c6f9460cd2f4917" /><Relationship Type="http://schemas.openxmlformats.org/officeDocument/2006/relationships/theme" Target="/ppt/slideMasters/theme/theme2.xml" Id="Rc866a242b9e74ef1" /><Relationship Type="http://schemas.openxmlformats.org/officeDocument/2006/relationships/slideLayout" Target="/ppt/slideLayouts/slideLayout1.xml" Id="Ra5116d30bba14eb1" /><Relationship Type="http://schemas.openxmlformats.org/officeDocument/2006/relationships/slideLayout" Target="/ppt/slideLayouts/slideLayout2.xml" Id="Rc5b3f9af566544e4" /><Relationship Type="http://schemas.openxmlformats.org/officeDocument/2006/relationships/slideLayout" Target="/ppt/slideLayouts/slideLayout3.xml" Id="R0a4de0c72ea44479" /><Relationship Type="http://schemas.openxmlformats.org/officeDocument/2006/relationships/slideLayout" Target="/ppt/slideLayouts/slideLayout4.xml" Id="R48c6d503bf59436b" /><Relationship Type="http://schemas.openxmlformats.org/officeDocument/2006/relationships/slideLayout" Target="/ppt/slideLayouts/slideLayout5.xml" Id="R23efa659b3f045d9" /><Relationship Type="http://schemas.openxmlformats.org/officeDocument/2006/relationships/slideLayout" Target="/ppt/slideLayouts/slideLayout6.xml" Id="R6e243071be2e484b" /><Relationship Type="http://schemas.openxmlformats.org/officeDocument/2006/relationships/slideLayout" Target="/ppt/slideLayouts/slideLayout7.xml" Id="R0e1e1b81be2e4bf6" /><Relationship Type="http://schemas.openxmlformats.org/officeDocument/2006/relationships/slideLayout" Target="/ppt/slideLayouts/slideLayout8.xml" Id="R75f2eea8fe2e42be" /><Relationship Type="http://schemas.openxmlformats.org/officeDocument/2006/relationships/slideLayout" Target="/ppt/slideLayouts/slideLayout9.xml" Id="R0a252b64724649c7" /><Relationship Type="http://schemas.openxmlformats.org/officeDocument/2006/relationships/slideLayout" Target="/ppt/slideLayouts/slideLayout10.xml" Id="Rde0dc8fe3ad64b2b" /><Relationship Type="http://schemas.openxmlformats.org/officeDocument/2006/relationships/slideLayout" Target="/ppt/slideLayouts/slideLayout11.xml" Id="R3456cd745d6d431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46687D5-4D00-474F-82B8-FCFBD98170F5}" type="datetime1">
              <a:t>10/24/2026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ADBF7CE3-29D9-4203-A481-45960E76618F}" type="slidenum">
              <a:t>‹#›</a:t>
            </a:fld>
            <a:endParaRPr/>
          </a:p>
        </p:txBody>
      </p:sp>
      <p:pic>
        <p:nvPicPr>
          <p:cNvPr id="1031" name="Picture 7">
            <a:extLst xmlns:a="http://schemas.openxmlformats.org/drawingml/2006/main">
              <a:ext uri="{FF2B5EF4-FFF2-40B4-BE49-F238E27FC236}">
                <a16:creationId xmlns:a16="http://schemas.microsoft.com/office/drawing/2014/main" id="{5F567201-1A31-4C4D-AD78-CC33D0DB2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9460cd2f49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153025"/>
            <a:ext cx="12192000" cy="1704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16d30bba14eb1"/>
    <p:sldLayoutId xmlns:r="http://schemas.openxmlformats.org/officeDocument/2006/relationships" id="2147483650" r:id="Rc5b3f9af566544e4"/>
    <p:sldLayoutId xmlns:r="http://schemas.openxmlformats.org/officeDocument/2006/relationships" id="2147483651" r:id="R0a4de0c72ea44479"/>
    <p:sldLayoutId xmlns:r="http://schemas.openxmlformats.org/officeDocument/2006/relationships" id="2147483652" r:id="R48c6d503bf59436b"/>
    <p:sldLayoutId xmlns:r="http://schemas.openxmlformats.org/officeDocument/2006/relationships" id="2147483653" r:id="R23efa659b3f045d9"/>
    <p:sldLayoutId xmlns:r="http://schemas.openxmlformats.org/officeDocument/2006/relationships" id="2147483654" r:id="R6e243071be2e484b"/>
    <p:sldLayoutId xmlns:r="http://schemas.openxmlformats.org/officeDocument/2006/relationships" id="2147483655" r:id="R0e1e1b81be2e4bf6"/>
    <p:sldLayoutId xmlns:r="http://schemas.openxmlformats.org/officeDocument/2006/relationships" id="2147483656" r:id="R75f2eea8fe2e42be"/>
    <p:sldLayoutId xmlns:r="http://schemas.openxmlformats.org/officeDocument/2006/relationships" id="2147483657" r:id="R0a252b64724649c7"/>
    <p:sldLayoutId xmlns:r="http://schemas.openxmlformats.org/officeDocument/2006/relationships" id="2147483658" r:id="Rde0dc8fe3ad64b2b"/>
    <p:sldLayoutId xmlns:r="http://schemas.openxmlformats.org/officeDocument/2006/relationships" id="2147483659" r:id="R3456cd745d6d4311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2e5a5d1069448f" /><Relationship Type="http://schemas.openxmlformats.org/officeDocument/2006/relationships/notesSlide" Target="/ppt/notesSlides/notesSlide1.xml" Id="R6e3a979a32944b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6291871aa4025" /><Relationship Type="http://schemas.openxmlformats.org/officeDocument/2006/relationships/notesSlide" Target="/ppt/notesSlides/notesSlide2.xml" Id="R69549909e29b48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3949fbfa3434f" /><Relationship Type="http://schemas.openxmlformats.org/officeDocument/2006/relationships/notesSlide" Target="/ppt/notesSlides/notesSlide3.xml" Id="Rbb05171fa82d40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2497b1ad7462e" /><Relationship Type="http://schemas.openxmlformats.org/officeDocument/2006/relationships/notesSlide" Target="/ppt/notesSlides/notesSlide4.xml" Id="R7b09ce85b90145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54dbf24684ff0" /><Relationship Type="http://schemas.openxmlformats.org/officeDocument/2006/relationships/notesSlide" Target="/ppt/notesSlides/notesSlide5.xml" Id="Ree6dfc3e9e8b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e0a8209434b2c" /><Relationship Type="http://schemas.openxmlformats.org/officeDocument/2006/relationships/notesSlide" Target="/ppt/notesSlides/notesSlide6.xml" Id="R6e067939a58a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ed7c4d41a4824" /><Relationship Type="http://schemas.openxmlformats.org/officeDocument/2006/relationships/notesSlide" Target="/ppt/notesSlides/notesSlide7.xml" Id="R4b09f5a50ac142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873a8dac704539" /><Relationship Type="http://schemas.openxmlformats.org/officeDocument/2006/relationships/image" Target="/ppt/media/image2.png" Id="Rcae472ec17c649b5" /><Relationship Type="http://schemas.openxmlformats.org/officeDocument/2006/relationships/image" Target="/ppt/media/image3.png" Id="R77c3bbaf5e5e46e3" /><Relationship Type="http://schemas.openxmlformats.org/officeDocument/2006/relationships/notesSlide" Target="/ppt/notesSlides/notesSlide8.xml" Id="R9c4bd05cee124f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c60d355444e8f" /><Relationship Type="http://schemas.openxmlformats.org/officeDocument/2006/relationships/notesSlide" Target="/ppt/notesSlides/notesSlide9.xml" Id="R8b710457b69343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c14c9e537a4cf3" /><Relationship Type="http://schemas.openxmlformats.org/officeDocument/2006/relationships/image" Target="/ppt/media/image4.png" Id="R380d66ca6ba443ae" /><Relationship Type="http://schemas.openxmlformats.org/officeDocument/2006/relationships/image" Target="/ppt/media/image5.png" Id="Rcca709725e164bd8" /><Relationship Type="http://schemas.openxmlformats.org/officeDocument/2006/relationships/notesSlide" Target="/ppt/notesSlides/notesSlide10.xml" Id="R09ec00a3f2f545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4ce7b3174b418c" /><Relationship Type="http://schemas.openxmlformats.org/officeDocument/2006/relationships/notesSlide" Target="/ppt/notesSlides/notesSlide11.xml" Id="Rac02d57e2a9c42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6086eca74408f" /><Relationship Type="http://schemas.openxmlformats.org/officeDocument/2006/relationships/notesSlide" Target="/ppt/notesSlides/notesSlide12.xml" Id="R1dac586e07154c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d488680f94c74" /><Relationship Type="http://schemas.openxmlformats.org/officeDocument/2006/relationships/image" Target="/ppt/media/image6.png" Id="Rf633793f7b4b4fff" /><Relationship Type="http://schemas.openxmlformats.org/officeDocument/2006/relationships/image" Target="/ppt/media/image.jpeg" Id="R9e507ccc88a94353" /><Relationship Type="http://schemas.openxmlformats.org/officeDocument/2006/relationships/notesSlide" Target="/ppt/notesSlides/notesSlide13.xml" Id="R1bbaae6f0b5d41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1c8e3857d4989" /><Relationship Type="http://schemas.openxmlformats.org/officeDocument/2006/relationships/notesSlide" Target="/ppt/notesSlides/notesSlide14.xml" Id="R4f2fdd82c5b045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647adf726f4c7d" /><Relationship Type="http://schemas.openxmlformats.org/officeDocument/2006/relationships/hyperlink" Target="https://github.com/sona-rajendren/AI-Based-DDoS-Detection-IoT" TargetMode="External" Id="Rb3d8979f71194b43" /><Relationship Type="http://schemas.openxmlformats.org/officeDocument/2006/relationships/notesSlide" Target="/ppt/notesSlides/notesSlide15.xml" Id="R99e5430b00614e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76cf0102c47a6" /><Relationship Type="http://schemas.openxmlformats.org/officeDocument/2006/relationships/image" Target="/ppt/media/image7.png" Id="Re96b36a51f3a441a" /><Relationship Type="http://schemas.openxmlformats.org/officeDocument/2006/relationships/notesSlide" Target="/ppt/notesSlides/notesSlide16.xml" Id="Ra8558daceb5941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3132ad8d04c89" /><Relationship Type="http://schemas.openxmlformats.org/officeDocument/2006/relationships/notesSlide" Target="/ppt/notesSlides/notesSlide17.xml" Id="R04ba851b92d94f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6a9cceaf240c3" /><Relationship Type="http://schemas.openxmlformats.org/officeDocument/2006/relationships/notesSlide" Target="/ppt/notesSlides/notesSlide18.xml" Id="R6b4144c8876246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0C9A8F-7354-4FD1-A5FC-719312747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30629"/>
            <a:ext cx="10515600" cy="15600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MCA Final Year Project (Review II)</a:t>
            </a:r>
            <a:br>
              <a:rPr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br>
              <a:rPr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AI-BASED EARLY DETECTION OF DDOS ATTACKS IN IOT NETWORKS</a:t>
            </a:r>
            <a:br>
              <a:rPr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</a:br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BB6848-7815-472A-9A3B-E4BB99FA36C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33893" y="1296773"/>
            <a:ext cx="10515600" cy="46616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71180"/>
                </a:solidFill>
                <a:latin typeface="Times New Roman"/>
                <a:ea typeface="Times New Roman"/>
                <a:cs typeface="Times New Roman"/>
              </a:rPr>
              <a:t>Submitted to the Presidency University, Bengaluru in partial fulfillment  for the award of the degree of  Master of Computer Applications (MCA)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Project Number : MCA_MP_24</a:t>
            </a:r>
          </a:p>
          <a:p xmlns:a="http://schemas.openxmlformats.org/drawingml/2006/main">
            <a:pPr marL="0" indent="0" algn="ctr">
              <a:buNone/>
            </a:pPr>
            <a:endParaRPr sz="1400" b="1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 algn="ctr">
              <a:buNone/>
            </a:pPr>
            <a:endParaRPr sz="1800" b="1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 algn="ctr">
              <a:buNone/>
            </a:pPr>
            <a:r>
              <a:rPr sz="1400" b="1">
                <a:latin typeface="Times New Roman"/>
                <a:ea typeface="Times New Roman"/>
                <a:cs typeface="Times New Roman"/>
              </a:rPr>
              <a:t>Under the supervision of 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Ms. 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Akshatha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G H</a:t>
            </a:r>
            <a:b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Guide, School of Information Science</a:t>
            </a:r>
            <a:br>
              <a:rPr sz="1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Presidency University, Bengaluru</a:t>
            </a:r>
            <a:br>
              <a:rPr sz="1400" b="1">
                <a:latin typeface="Times New Roman"/>
                <a:ea typeface="Times New Roman"/>
                <a:cs typeface="Times New Roman"/>
              </a:rPr>
            </a:br>
            <a:br>
              <a:rPr sz="105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endParaRPr sz="2400" b="1">
              <a:solidFill>
                <a:srgbClr val="92D05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53F0D9A-CB06-4906-9CF9-CFC96C72DD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815EC703-C051-410C-8BA1-62752E291E83}" type="slidenum">
              <a:t>1</a:t>
            </a:fld>
            <a:endParaRPr/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EFAEFCC0-8EB2-4C7B-8FEF-F7B22A4A08F8}"/>
              </a:ext>
            </a:extLst>
          </p:cNvPr>
          <p:cNvGraphicFramePr/>
          <p:nvPr/>
        </p:nvGraphicFramePr>
        <p:xfrm>
          <a:off xmlns:a="http://schemas.openxmlformats.org/drawingml/2006/main" x="3435224" y="2200000"/>
          <a:ext xmlns:a="http://schemas.openxmlformats.org/drawingml/2006/main" cx="5321552" cy="18148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6"/>
                <a:gridCol w="2660776"/>
              </a:tblGrid>
              <a:tr h="36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Name 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Roll Number</a:t>
                      </a:r>
                    </a:p>
                  </a:txBody>
                  <a:tcPr marL="91440" marR="91440" marT="45720" marB="45720"/>
                </a:tc>
              </a:tr>
              <a:tr h="36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SONA RAJENDREN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20252MCA0065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  <a:tr h="36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FEBIN SHAHAS K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20252MCA0001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  <a:tr h="36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MANUEL JOSE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20252MCA0214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  <a:tr h="36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ADEEB ANISHAD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20252MCA0039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82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48F523F9-D03B-443F-9F01-896A9F2B8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Review II Outline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D3C1377D-E725-40EB-BA6C-58F5CFB777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800" y="1143001"/>
            <a:ext cx="10668000" cy="3924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/>
          <a:lstStyle xmlns:a="http://schemas.openxmlformats.org/drawingml/2006/main"/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Problem Statement &amp; Refined Objectives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Literature Review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System Architecture &amp; Design Models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Dataset &amp; Feature Engineering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Module-Wise Development Progress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Federated Learning Results &amp; Model Comparison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Database Design &amp; Backend Integration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Review II Deliverables &amp; Validation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Tools and Technologies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Project Repository &amp; Timeline</a:t>
            </a:r>
          </a:p>
          <a:p xmlns:a="http://schemas.openxmlformats.org/drawingml/2006/main">
            <a:pPr marL="495300" indent="-342900" algn="just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Ø"/>
            </a:pPr>
            <a:r>
              <a:rPr sz="1600">
                <a:latin typeface="Cambria"/>
                <a:ea typeface="Cambria"/>
                <a:cs typeface="Cambria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8012294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647D5800-6E3E-45C9-8B00-816E7B560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Problem Statement &amp; Refined Objectives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Rounded Rectangle 96">
            <a:extLst xmlns:a="http://schemas.openxmlformats.org/drawingml/2006/main">
              <a:ext uri="{FF2B5EF4-FFF2-40B4-BE49-F238E27FC236}">
                <a16:creationId xmlns:a16="http://schemas.microsoft.com/office/drawing/2014/main" id="{DBF92996-28A7-414A-9CEE-B88D06D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113385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9EAD2F10-FEEC-46AB-AAFD-05913333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86968"/>
            <a:ext cx="11064240" cy="481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Problem: Resource-constrained IoT devices and MQTT brokers can be vulnerable to high-volume attacks. Cloud-only monitoring may add network delay and move traffic off-device.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4F5BE7FB-7816-4750-9CB8-14A54924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74519"/>
            <a:ext cx="5760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Refined objectives</a:t>
            </a:r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AA59D98F-3B58-406A-BB8B-714E7A1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9514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9B64B606-8592-4DAA-94EB-337B53A8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03704"/>
            <a:ext cx="534924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Build a 10-feature Edge-IIoTset sample with a binary target: Normal vs. DDoS.</a:t>
            </a:r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CF1C933A-07D9-4F16-BD23-85E7F02B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4378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49F12DAE-1E11-4917-9E16-DEDD89C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52344"/>
            <a:ext cx="5349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Train lightweight edge classifiers (Decision Tree, Naive Bayes) as centralised baselines.</a:t>
            </a:r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85C832C1-2A78-4498-AA1B-9755600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9242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B493B022-46AE-44C9-A7C8-FE5EC89E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5349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Train one shared detector with Federated Learning (FedAvg, Flower) without sharing raw data.</a:t>
            </a:r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315505E1-1B4C-4C5A-8D4E-71CCB7DD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4106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95FEB6B6-C490-4C7C-8675-4852396F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9624"/>
            <a:ext cx="5349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Evaluate under IID and non-IID client data using accuracy, F1 and ROC-AUC.</a:t>
            </a:r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34FAA25E-5365-4F4E-9288-754CFE2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8970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D0E2D4FE-AF56-4AC2-9212-3119EFF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98264"/>
            <a:ext cx="534924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Implement live alerts and mitigation in Sprint 3.</a:t>
            </a:r>
          </a:p>
        </p:txBody>
      </p:sp>
      <p:sp>
        <p:nvSpPr>
          <p:cNvPr id="110" name="Rounded Rectangle 109">
            <a:extLst xmlns:a="http://schemas.openxmlformats.org/drawingml/2006/main">
              <a:ext uri="{FF2B5EF4-FFF2-40B4-BE49-F238E27FC236}">
                <a16:creationId xmlns:a16="http://schemas.microsoft.com/office/drawing/2014/main" id="{8AE26933-99F8-4E75-A35D-0DA76679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5349240" cy="3108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6956C844-A195-425F-A09F-219F1A5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2024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changed since Review I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F66A673C-4C3C-4594-B1C9-22DDC7F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286000"/>
            <a:ext cx="512064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Dataset fixed to Edge-IIoTset (100,000 rows, 50% Normal / 50% attack) instead of IoT-23 / BoT-IoT.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Features adapted to the dataset: tcp.flags.syn and mqtt.topic replaced by tcp.connection.syn and protocol-presence flags.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Federated model is a small MLP (10-16-1): FedAvg averages numeric weights, which a tree does not have. Trees stay as centralised baselines.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Fixed scaling, so every client scales identically and no data statistics are shared.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D265A5-487B-459C-8ABB-16796ED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219" y="80000"/>
            <a:ext cx="6533562" cy="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Cambria"/>
                <a:ea typeface="Cambria"/>
                <a:cs typeface="Cambria"/>
              </a:rPr>
              <a:t>Literature Review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58E76A-89FB-4654-BB4A-CB5A92A2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00000"/>
            <a:ext cx="11186160" cy="2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Related work, part 1 of 2 (MQTT intrusion detection)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7F5FE3BD-ADDC-4D1D-9AFE-24A85B16D696}"/>
              </a:ext>
            </a:extLst>
          </p:cNvPr>
          <p:cNvGraphicFramePr/>
          <p:nvPr/>
        </p:nvGraphicFramePr>
        <p:xfrm>
          <a:off xmlns:a="http://schemas.openxmlformats.org/drawingml/2006/main" x="380000" y="1000000"/>
          <a:ext xmlns:a="http://schemas.openxmlformats.org/drawingml/2006/main" cx="11432000" cy="41691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2650000"/>
                <a:gridCol w="2650000"/>
                <a:gridCol w="4382000"/>
              </a:tblGrid>
              <a:tr h="53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Study / Citation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They Investigated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Relevance to Our Project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</a:tr>
              <a:tr h="1816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/>
                        <a:t>Hindy et al. (2021)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MQTT-IoT-IDS2020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Machine-learning detection of MQTT attacks; released the MQTT-IoT-IDS2020 dataset.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The study compares packet, unidirectional-flow and bidirectional-flow features; flow features help distinguish MQTT attacks.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r>
                        <a:rPr sz="1400"/>
                        <a:t>Our current features are packet-level. Flow-level features remain a planned extension.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16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/>
                        <a:t>Khan et al. (2021)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Deep Learning for MQTT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Deep neural network for MQTT intrusion detection, compared with Naive Bayes, Random Forest, kNN, Decision Tree, LSTM and GRU on two public datasets.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A deep neural network is evaluated against conventional and recurrent models on MQTT datasets.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400"/>
                        <a:t>Motivates a compact federated neural model; Decision Tree and Naive Bayes remain centralised baselines.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721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E86326-2F24-4B2A-B318-ADB7B3B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219" y="80000"/>
            <a:ext cx="6533562" cy="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Cambria"/>
                <a:ea typeface="Cambria"/>
                <a:cs typeface="Cambria"/>
              </a:rPr>
              <a:t>Literature Review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C5ABFF-DB14-4135-85A0-FDAE4D83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00000"/>
            <a:ext cx="11186160" cy="2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Related work, part 2 of 2 (datasets and federated learning)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69566BCA-39B0-4434-AC28-793DB2507E23}"/>
              </a:ext>
            </a:extLst>
          </p:cNvPr>
          <p:cNvGraphicFramePr/>
          <p:nvPr/>
        </p:nvGraphicFramePr>
        <p:xfrm>
          <a:off xmlns:a="http://schemas.openxmlformats.org/drawingml/2006/main" x="380000" y="1000000"/>
          <a:ext xmlns:a="http://schemas.openxmlformats.org/drawingml/2006/main" cx="11432000" cy="415982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2650000"/>
                <a:gridCol w="2650000"/>
                <a:gridCol w="4382000"/>
              </a:tblGrid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Study / Citation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They Investigated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</a:rPr>
                        <a:t>Relevance to Our Project</a:t>
                      </a:r>
                    </a:p>
                  </a:txBody>
                  <a:tcPr marL="91440" marR="91440" marT="45720" marB="45720" anchor="ctr">
                    <a:solidFill>
                      <a:srgbClr val="1E2761"/>
                    </a:solidFill>
                  </a:tcPr>
                </a:tc>
              </a:tr>
              <a:tr h="1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/>
                        <a:t>Ferrag et al. (2022)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Edge-IIoTset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Testbed-generated IoT and IIoT dataset with 14 attack types in 5 threat categories, built for centralised and federated learning.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A realistic dataset suited to both centralised and federated training.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r>
                        <a:rPr sz="1400"/>
                        <a:t>Our data source: a balanced 100,000-row sample of Normal and 4 DDoS types.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998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/>
                        <a:t>Mothukuri et al. (2022); Rahman et al. (2020)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Federated IoT Security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Federated approaches to IoT security, compared with centralised and on-device training.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/>
                        <a:t>Federated learning trains across local datasets by exchanging model updates instead of raw traffic.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400"/>
                        <a:t>Motivates FedAvg; our measured results are compared with centralised baselines.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721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43B9198E-092A-9BA4-E770-B551D722C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System Architecture &amp; Module Design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F28006CB-202B-4489-9C40-D54C313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60000"/>
            <a:ext cx="1118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Offline dataset, baselines and FL complete  |  Sprint 3: live alerts and mitigation planned</a:t>
            </a:r>
          </a:p>
        </p:txBody>
      </p:sp>
      <p:sp>
        <p:nvSpPr>
          <p:cNvPr id="200" name="StageBox1">
            <a:extLst xmlns:a="http://schemas.openxmlformats.org/drawingml/2006/main">
              <a:ext uri="{FF2B5EF4-FFF2-40B4-BE49-F238E27FC236}">
                <a16:creationId xmlns:a16="http://schemas.microsoft.com/office/drawing/2014/main" id="{B1AB59AF-B8F9-4B60-BC3F-E263DF1C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100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StageIcon1">
            <a:extLst xmlns:a="http://schemas.openxmlformats.org/drawingml/2006/main">
              <a:ext uri="{FF2B5EF4-FFF2-40B4-BE49-F238E27FC236}">
                <a16:creationId xmlns:a16="http://schemas.microsoft.com/office/drawing/2014/main" id="{6D251514-4609-47D0-80A3-B06EF4E4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106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2" name="StageText1">
            <a:extLst xmlns:a="http://schemas.openxmlformats.org/drawingml/2006/main">
              <a:ext uri="{FF2B5EF4-FFF2-40B4-BE49-F238E27FC236}">
                <a16:creationId xmlns:a16="http://schemas.microsoft.com/office/drawing/2014/main" id="{7F03709F-3E0D-4CD6-947A-87FB9939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100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IoT Devices</a:t>
            </a:r>
          </a:p>
          <a:p xmlns:a="http://schemas.openxmlformats.org/drawingml/2006/main">
            <a:pPr algn="l">
              <a:buNone/>
            </a:pP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ESP32 + sensors publish live telemetry over MQTT.</a:t>
            </a:r>
          </a:p>
        </p:txBody>
      </p:sp>
      <p:sp>
        <p:nvSpPr>
          <p:cNvPr id="203" name="StageBox2">
            <a:extLst xmlns:a="http://schemas.openxmlformats.org/drawingml/2006/main">
              <a:ext uri="{FF2B5EF4-FFF2-40B4-BE49-F238E27FC236}">
                <a16:creationId xmlns:a16="http://schemas.microsoft.com/office/drawing/2014/main" id="{A82CC67D-FA0E-4236-A102-F901E937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157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00BF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4" name="StageIcon2">
            <a:extLst xmlns:a="http://schemas.openxmlformats.org/drawingml/2006/main">
              <a:ext uri="{FF2B5EF4-FFF2-40B4-BE49-F238E27FC236}">
                <a16:creationId xmlns:a16="http://schemas.microsoft.com/office/drawing/2014/main" id="{20F953ED-7F52-4C4D-80D2-C8305AB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163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5" name="StageText2">
            <a:extLst xmlns:a="http://schemas.openxmlformats.org/drawingml/2006/main">
              <a:ext uri="{FF2B5EF4-FFF2-40B4-BE49-F238E27FC236}">
                <a16:creationId xmlns:a16="http://schemas.microsoft.com/office/drawing/2014/main" id="{96AC0A92-A213-45A7-8FE7-9544BAAF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157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MQTT Broker</a:t>
            </a:r>
          </a:p>
          <a:p xmlns:a="http://schemas.openxmlformats.org/drawingml/2006/main">
            <a:pPr algn="l">
              <a:buNone/>
            </a:pP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Eclipse </a:t>
            </a: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Mosquitto</a:t>
            </a: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receives and routes all pub/sub traffic.</a:t>
            </a:r>
          </a:p>
        </p:txBody>
      </p:sp>
      <p:sp>
        <p:nvSpPr>
          <p:cNvPr id="206" name="StageBox3">
            <a:extLst xmlns:a="http://schemas.openxmlformats.org/drawingml/2006/main">
              <a:ext uri="{FF2B5EF4-FFF2-40B4-BE49-F238E27FC236}">
                <a16:creationId xmlns:a16="http://schemas.microsoft.com/office/drawing/2014/main" id="{12A8C9FF-3A9D-47C1-8DB1-EADD18C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214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FF7A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7" name="StageIcon3">
            <a:extLst xmlns:a="http://schemas.openxmlformats.org/drawingml/2006/main">
              <a:ext uri="{FF2B5EF4-FFF2-40B4-BE49-F238E27FC236}">
                <a16:creationId xmlns:a16="http://schemas.microsoft.com/office/drawing/2014/main" id="{C4E341FC-51FA-4088-B59A-1709893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220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8" name="StageText3">
            <a:extLst xmlns:a="http://schemas.openxmlformats.org/drawingml/2006/main">
              <a:ext uri="{FF2B5EF4-FFF2-40B4-BE49-F238E27FC236}">
                <a16:creationId xmlns:a16="http://schemas.microsoft.com/office/drawing/2014/main" id="{7ED7645F-B9F5-4BC6-BB44-D2677FA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214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Maps Edge-IIoTset fields to 10 scaled packet and protocol features.</a:t>
            </a:r>
          </a:p>
        </p:txBody>
      </p:sp>
      <p:sp>
        <p:nvSpPr>
          <p:cNvPr id="209" name="StageBox4">
            <a:extLst xmlns:a="http://schemas.openxmlformats.org/drawingml/2006/main">
              <a:ext uri="{FF2B5EF4-FFF2-40B4-BE49-F238E27FC236}">
                <a16:creationId xmlns:a16="http://schemas.microsoft.com/office/drawing/2014/main" id="{57E3B5FA-EBD1-41E9-AEB2-7D6A96F1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271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C724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0" name="StageIcon4">
            <a:extLst xmlns:a="http://schemas.openxmlformats.org/drawingml/2006/main">
              <a:ext uri="{FF2B5EF4-FFF2-40B4-BE49-F238E27FC236}">
                <a16:creationId xmlns:a16="http://schemas.microsoft.com/office/drawing/2014/main" id="{69E2B8E9-F5A6-4741-88FE-BDC7A038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277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4E0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1" name="StageText4">
            <a:extLst xmlns:a="http://schemas.openxmlformats.org/drawingml/2006/main">
              <a:ext uri="{FF2B5EF4-FFF2-40B4-BE49-F238E27FC236}">
                <a16:creationId xmlns:a16="http://schemas.microsoft.com/office/drawing/2014/main" id="{283C594D-83B1-4802-B56A-5E21A03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271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Edge Classification</a:t>
            </a:r>
          </a:p>
          <a:p xmlns:a="http://schemas.openxmlformats.org/drawingml/2006/main">
            <a:pPr algn="l">
              <a:buNone/>
            </a:pP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Decision Tree / Naive Bayes flags Normal vs. DDoS traffic.</a:t>
            </a:r>
          </a:p>
        </p:txBody>
      </p:sp>
      <p:sp>
        <p:nvSpPr>
          <p:cNvPr id="212" name="StageBox5">
            <a:extLst xmlns:a="http://schemas.openxmlformats.org/drawingml/2006/main">
              <a:ext uri="{FF2B5EF4-FFF2-40B4-BE49-F238E27FC236}">
                <a16:creationId xmlns:a16="http://schemas.microsoft.com/office/drawing/2014/main" id="{48DBF500-4E61-42B7-A8C6-718EA5A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328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E8175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3" name="StageIcon5">
            <a:extLst xmlns:a="http://schemas.openxmlformats.org/drawingml/2006/main">
              <a:ext uri="{FF2B5EF4-FFF2-40B4-BE49-F238E27FC236}">
                <a16:creationId xmlns:a16="http://schemas.microsoft.com/office/drawing/2014/main" id="{863149C2-40C1-4816-B30E-FAE32129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334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175D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4" name="StageText5">
            <a:extLst xmlns:a="http://schemas.openxmlformats.org/drawingml/2006/main">
              <a:ext uri="{FF2B5EF4-FFF2-40B4-BE49-F238E27FC236}">
                <a16:creationId xmlns:a16="http://schemas.microsoft.com/office/drawing/2014/main" id="{D4A917E2-1520-425A-BE13-2F2177BF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328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Federated Learning</a:t>
            </a:r>
          </a:p>
          <a:p xmlns:a="http://schemas.openxmlformats.org/drawingml/2006/main">
            <a:pPr algn="l">
              <a:buNone/>
            </a:pP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Flower / </a:t>
            </a: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FedAvg</a:t>
            </a:r>
            <a:r>
              <a:rPr sz="14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aggregates model updates, no raw data shared.</a:t>
            </a:r>
          </a:p>
        </p:txBody>
      </p:sp>
      <p:sp>
        <p:nvSpPr>
          <p:cNvPr id="215" name="StageBox6">
            <a:extLst xmlns:a="http://schemas.openxmlformats.org/drawingml/2006/main">
              <a:ext uri="{FF2B5EF4-FFF2-40B4-BE49-F238E27FC236}">
                <a16:creationId xmlns:a16="http://schemas.microsoft.com/office/drawing/2014/main" id="{358E71A5-9FDD-4BEF-BA79-ED61BB5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385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2E9E5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6" name="StageIcon6">
            <a:extLst xmlns:a="http://schemas.openxmlformats.org/drawingml/2006/main">
              <a:ext uri="{FF2B5EF4-FFF2-40B4-BE49-F238E27FC236}">
                <a16:creationId xmlns:a16="http://schemas.microsoft.com/office/drawing/2014/main" id="{8DE9F019-A5C0-4E47-B7A7-BF718CBB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391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17" name="StageText6">
            <a:extLst xmlns:a="http://schemas.openxmlformats.org/drawingml/2006/main">
              <a:ext uri="{FF2B5EF4-FFF2-40B4-BE49-F238E27FC236}">
                <a16:creationId xmlns:a16="http://schemas.microsoft.com/office/drawing/2014/main" id="{F5AC3A66-A6CE-486B-9A88-21593E1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385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FastAPI service for real-time alerts and response rules (planned).</a:t>
            </a:r>
          </a:p>
        </p:txBody>
      </p:sp>
      <p:sp>
        <p:nvSpPr>
          <p:cNvPr id="218" name="StageBox7">
            <a:extLst xmlns:a="http://schemas.openxmlformats.org/drawingml/2006/main">
              <a:ext uri="{FF2B5EF4-FFF2-40B4-BE49-F238E27FC236}">
                <a16:creationId xmlns:a16="http://schemas.microsoft.com/office/drawing/2014/main" id="{4BAF732C-CBF0-4703-B103-FC3CE8B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4420000"/>
            <a:ext cx="5300000" cy="5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875">
            <a:solidFill>
              <a:srgbClr val="1E276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9" name="StageIcon7">
            <a:extLst xmlns:a="http://schemas.openxmlformats.org/drawingml/2006/main">
              <a:ext uri="{FF2B5EF4-FFF2-40B4-BE49-F238E27FC236}">
                <a16:creationId xmlns:a16="http://schemas.microsoft.com/office/drawing/2014/main" id="{FD04E86C-DDC5-4206-95B6-6D989E6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00" y="4480000"/>
            <a:ext cx="380000" cy="3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20" name="StageText7">
            <a:extLst xmlns:a="http://schemas.openxmlformats.org/drawingml/2006/main">
              <a:ext uri="{FF2B5EF4-FFF2-40B4-BE49-F238E27FC236}">
                <a16:creationId xmlns:a16="http://schemas.microsoft.com/office/drawing/2014/main" id="{78645CBA-574F-4483-9A7F-5BA87297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00" y="4420000"/>
            <a:ext cx="4675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Applies approved DDoS blocks at the broker or firewall (planned).</a:t>
            </a:r>
          </a:p>
        </p:txBody>
      </p:sp>
      <p:sp>
        <p:nvSpPr>
          <p:cNvPr id="221" name="Arrow0">
            <a:extLst xmlns:a="http://schemas.openxmlformats.org/drawingml/2006/main">
              <a:ext uri="{FF2B5EF4-FFF2-40B4-BE49-F238E27FC236}">
                <a16:creationId xmlns:a16="http://schemas.microsoft.com/office/drawing/2014/main" id="{52C57BA8-C3C1-4792-9009-3C98373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150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2" name="Arrow1">
            <a:extLst xmlns:a="http://schemas.openxmlformats.org/drawingml/2006/main">
              <a:ext uri="{FF2B5EF4-FFF2-40B4-BE49-F238E27FC236}">
                <a16:creationId xmlns:a16="http://schemas.microsoft.com/office/drawing/2014/main" id="{AB224365-357B-44BE-BDB8-2478C184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207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3" name="Arrow2">
            <a:extLst xmlns:a="http://schemas.openxmlformats.org/drawingml/2006/main">
              <a:ext uri="{FF2B5EF4-FFF2-40B4-BE49-F238E27FC236}">
                <a16:creationId xmlns:a16="http://schemas.microsoft.com/office/drawing/2014/main" id="{15007B1A-2F47-4E58-829A-F6CFBBB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264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4" name="Arrow3">
            <a:extLst xmlns:a="http://schemas.openxmlformats.org/drawingml/2006/main">
              <a:ext uri="{FF2B5EF4-FFF2-40B4-BE49-F238E27FC236}">
                <a16:creationId xmlns:a16="http://schemas.microsoft.com/office/drawing/2014/main" id="{A701C749-F609-44FE-BE5A-E541571C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321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5" name="Arrow4">
            <a:extLst xmlns:a="http://schemas.openxmlformats.org/drawingml/2006/main">
              <a:ext uri="{FF2B5EF4-FFF2-40B4-BE49-F238E27FC236}">
                <a16:creationId xmlns:a16="http://schemas.microsoft.com/office/drawing/2014/main" id="{EACF2AD3-D03E-44D5-9CCD-E3718ED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378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6" name="Arrow5">
            <a:extLst xmlns:a="http://schemas.openxmlformats.org/drawingml/2006/main">
              <a:ext uri="{FF2B5EF4-FFF2-40B4-BE49-F238E27FC236}">
                <a16:creationId xmlns:a16="http://schemas.microsoft.com/office/drawing/2014/main" id="{2B95E2B0-250A-4520-9DD8-7A36873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00" y="4350000"/>
            <a:ext cx="0" cy="7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5A5A5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7" name="AttackerBox">
            <a:extLst xmlns:a="http://schemas.openxmlformats.org/drawingml/2006/main">
              <a:ext uri="{FF2B5EF4-FFF2-40B4-BE49-F238E27FC236}">
                <a16:creationId xmlns:a16="http://schemas.microsoft.com/office/drawing/2014/main" id="{8C2A6B0A-4737-4E92-B24A-5A28B46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000" y="2620000"/>
            <a:ext cx="4150000" cy="125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F2F1"/>
          </a:solidFill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8" name="AttackerText">
            <a:extLst xmlns:a="http://schemas.openxmlformats.org/drawingml/2006/main">
              <a:ext uri="{FF2B5EF4-FFF2-40B4-BE49-F238E27FC236}">
                <a16:creationId xmlns:a16="http://schemas.microsoft.com/office/drawing/2014/main" id="{524CC4FA-7B1B-4773-BDBC-276C9BA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000" y="2710000"/>
            <a:ext cx="3790000" cy="10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ATTACKER</a:t>
            </a:r>
          </a:p>
          <a:p xmlns:a="http://schemas.openxmlformats.org/drawingml/2006/main">
            <a:pPr marL="114300" indent="-114300" algn="l">
              <a:buFont typeface="Arial"/>
              <a:buChar char="•"/>
            </a:pPr>
            <a:r>
              <a:rPr sz="16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MQTT CONNECT Flood</a:t>
            </a:r>
          </a:p>
          <a:p xmlns:a="http://schemas.openxmlformats.org/drawingml/2006/main">
            <a:pPr marL="114300" indent="-114300" algn="l">
              <a:buFont typeface="Arial"/>
              <a:buChar char="•"/>
            </a:pPr>
            <a:r>
              <a:rPr sz="16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PUBLISH Storm</a:t>
            </a:r>
          </a:p>
          <a:p xmlns:a="http://schemas.openxmlformats.org/drawingml/2006/main">
            <a:pPr marL="114300" indent="-114300" algn="l">
              <a:buFont typeface="Arial"/>
              <a:buChar char="•"/>
            </a:pPr>
            <a:r>
              <a:rPr sz="16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TCP SYN Flood</a:t>
            </a:r>
          </a:p>
        </p:txBody>
      </p:sp>
      <p:sp>
        <p:nvSpPr>
          <p:cNvPr id="229" name="ArrowAttackIn">
            <a:extLst xmlns:a="http://schemas.openxmlformats.org/drawingml/2006/main">
              <a:ext uri="{FF2B5EF4-FFF2-40B4-BE49-F238E27FC236}">
                <a16:creationId xmlns:a16="http://schemas.microsoft.com/office/drawing/2014/main" id="{1BE28994-C4B1-4DC3-90F7-1AE161D9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800000" y="1820000"/>
            <a:ext cx="450000" cy="80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0" name="ArrowBlock">
            <a:extLst xmlns:a="http://schemas.openxmlformats.org/drawingml/2006/main">
              <a:ext uri="{FF2B5EF4-FFF2-40B4-BE49-F238E27FC236}">
                <a16:creationId xmlns:a16="http://schemas.microsoft.com/office/drawing/2014/main" id="{08E6FA27-E2EF-4633-AD02-8FAF907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00000" y="3870000"/>
            <a:ext cx="450000" cy="80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2761"/>
            </a:solidFill>
            <a:tailEnd type="triangl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1" name="LabelAttackIn">
            <a:extLst xmlns:a="http://schemas.openxmlformats.org/drawingml/2006/main">
              <a:ext uri="{FF2B5EF4-FFF2-40B4-BE49-F238E27FC236}">
                <a16:creationId xmlns:a16="http://schemas.microsoft.com/office/drawing/2014/main" id="{02E1C0E4-1212-4B19-B1CC-9775EFB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500" y="1888752"/>
            <a:ext cx="434999" cy="305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attack traffic</a:t>
            </a:r>
          </a:p>
        </p:txBody>
      </p:sp>
      <p:sp>
        <p:nvSpPr>
          <p:cNvPr id="232" name="LabelBlock">
            <a:extLst xmlns:a="http://schemas.openxmlformats.org/drawingml/2006/main">
              <a:ext uri="{FF2B5EF4-FFF2-40B4-BE49-F238E27FC236}">
                <a16:creationId xmlns:a16="http://schemas.microsoft.com/office/drawing/2014/main" id="{62167B2F-76A0-4B16-81C9-EB8F7A6D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00" y="4248629"/>
            <a:ext cx="510000" cy="2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blocked</a:t>
            </a:r>
          </a:p>
        </p:txBody>
      </p:sp>
      <p:sp>
        <p:nvSpPr>
          <p:cNvPr id="233" name="Rounded Rectangle 232">
            <a:extLst xmlns:a="http://schemas.openxmlformats.org/drawingml/2006/main">
              <a:ext uri="{FF2B5EF4-FFF2-40B4-BE49-F238E27FC236}">
                <a16:creationId xmlns:a16="http://schemas.microsoft.com/office/drawing/2014/main" id="{3CF1BB64-F1D6-4701-80A5-AA4856C8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212848"/>
            <a:ext cx="1051560" cy="347472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376B1F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234" name="Rounded Rectangle 233">
            <a:extLst xmlns:a="http://schemas.openxmlformats.org/drawingml/2006/main">
              <a:ext uri="{FF2B5EF4-FFF2-40B4-BE49-F238E27FC236}">
                <a16:creationId xmlns:a16="http://schemas.microsoft.com/office/drawing/2014/main" id="{E17B7881-15F0-4D15-ABFF-C0DD850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79776"/>
            <a:ext cx="1051560" cy="347472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376B1F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235" name="Rounded Rectangle 234">
            <a:extLst xmlns:a="http://schemas.openxmlformats.org/drawingml/2006/main">
              <a:ext uri="{FF2B5EF4-FFF2-40B4-BE49-F238E27FC236}">
                <a16:creationId xmlns:a16="http://schemas.microsoft.com/office/drawing/2014/main" id="{72C102F7-EA60-400F-8E1C-A16CC46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355848"/>
            <a:ext cx="1051560" cy="347472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376B1F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236" name="Rounded Rectangle 235">
            <a:extLst xmlns:a="http://schemas.openxmlformats.org/drawingml/2006/main">
              <a:ext uri="{FF2B5EF4-FFF2-40B4-BE49-F238E27FC236}">
                <a16:creationId xmlns:a16="http://schemas.microsoft.com/office/drawing/2014/main" id="{91601713-64C1-47E8-A8FC-43F72948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922776"/>
            <a:ext cx="1051560" cy="347472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8A6300"/>
                </a:solidFill>
                <a:latin typeface="Calibri"/>
                <a:ea typeface="Calibri"/>
                <a:cs typeface="Calibri"/>
              </a:rPr>
              <a:t>Sprint 3</a:t>
            </a:r>
          </a:p>
        </p:txBody>
      </p:sp>
      <p:sp>
        <p:nvSpPr>
          <p:cNvPr id="237" name="Rounded Rectangle 236">
            <a:extLst xmlns:a="http://schemas.openxmlformats.org/drawingml/2006/main">
              <a:ext uri="{FF2B5EF4-FFF2-40B4-BE49-F238E27FC236}">
                <a16:creationId xmlns:a16="http://schemas.microsoft.com/office/drawing/2014/main" id="{05FA9144-5208-420D-A324-58AB2C10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89704"/>
            <a:ext cx="1051560" cy="347472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8A6300"/>
                </a:solidFill>
                <a:latin typeface="Calibri"/>
                <a:ea typeface="Calibri"/>
                <a:cs typeface="Calibri"/>
              </a:rPr>
              <a:t>Sprint 3</a:t>
            </a:r>
          </a:p>
        </p:txBody>
      </p:sp>
    </p:spTree>
    <p:extLst>
      <p:ext uri="{BB962C8B-B14F-4D97-AF65-F5344CB8AC3E}">
        <p14:creationId xmlns:p14="http://schemas.microsoft.com/office/powerpoint/2010/main" val="12837261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3810C1CB-E8F5-40BB-B548-26CC3C355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1845" y="274638"/>
            <a:ext cx="10948955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Data Pipeline and Federated Learning Workflow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5DB05992-70C0-4FE0-A7A2-F5B2701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412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A. Data pipeline (Sprint 1)</a:t>
            </a:r>
          </a:p>
        </p:txBody>
      </p:sp>
      <p:sp>
        <p:nvSpPr>
          <p:cNvPr id="98" name="Rounded Rectangle 97">
            <a:extLst xmlns:a="http://schemas.openxmlformats.org/drawingml/2006/main">
              <a:ext uri="{FF2B5EF4-FFF2-40B4-BE49-F238E27FC236}">
                <a16:creationId xmlns:a16="http://schemas.microsoft.com/office/drawing/2014/main" id="{68F814CB-6F4D-4386-AB64-9918102D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0"/>
            <a:ext cx="201168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893D6C50-2D71-4282-88A0-D32E38C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192024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Edge-IIoTset CSV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DNN-EdgeIIoT-dataset</a:t>
            </a:r>
          </a:p>
        </p:txBody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4E647DE2-DC16-493A-B29C-7AC7447D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61848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1" name="Rounded Rectangle 100">
            <a:extLst xmlns:a="http://schemas.openxmlformats.org/drawingml/2006/main">
              <a:ext uri="{FF2B5EF4-FFF2-40B4-BE49-F238E27FC236}">
                <a16:creationId xmlns:a16="http://schemas.microsoft.com/office/drawing/2014/main" id="{60F6BC98-C537-4D26-B666-788B316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188720"/>
            <a:ext cx="201168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0FBBE14B-E5DB-4043-AE63-F9C5A48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207008"/>
            <a:ext cx="192024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Filter 5 classes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Normal + DDoS TCP / UDP / ICMP / HTTP</a:t>
            </a:r>
          </a:p>
        </p:txBody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21FEA59F-F2DC-452E-88DB-71C862A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1848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" name="Rounded Rectangle 103">
            <a:extLst xmlns:a="http://schemas.openxmlformats.org/drawingml/2006/main">
              <a:ext uri="{FF2B5EF4-FFF2-40B4-BE49-F238E27FC236}">
                <a16:creationId xmlns:a16="http://schemas.microsoft.com/office/drawing/2014/main" id="{AFC9F5E6-C387-4CF0-A4FE-4BFC4C75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188720"/>
            <a:ext cx="201168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4F344704-4E4E-40BB-B54B-05BFBD55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207008"/>
            <a:ext cx="192024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Balanced sample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100,000 rows, 50% Normal / 50% attack</a:t>
            </a:r>
          </a:p>
        </p:txBody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864C46C1-5820-473E-A2D3-EA77CB4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848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Rounded Rectangle 106">
            <a:extLst xmlns:a="http://schemas.openxmlformats.org/drawingml/2006/main">
              <a:ext uri="{FF2B5EF4-FFF2-40B4-BE49-F238E27FC236}">
                <a16:creationId xmlns:a16="http://schemas.microsoft.com/office/drawing/2014/main" id="{51AD8DA6-1A0D-49E9-A5F8-7AE4C09F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188720"/>
            <a:ext cx="201168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F436FFEB-46AC-45DB-9D22-7DDC215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207008"/>
            <a:ext cx="192024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10 features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extracted, then fixed scaling</a:t>
            </a:r>
          </a:p>
        </p:txBody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8EC2F332-17A9-4B12-8162-8B73994B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18488"/>
            <a:ext cx="320039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Rounded Rectangle 109">
            <a:extLst xmlns:a="http://schemas.openxmlformats.org/drawingml/2006/main">
              <a:ext uri="{FF2B5EF4-FFF2-40B4-BE49-F238E27FC236}">
                <a16:creationId xmlns:a16="http://schemas.microsoft.com/office/drawing/2014/main" id="{B13EBAAA-5729-40BD-8721-AC441C0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59" y="1188720"/>
            <a:ext cx="201168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7B48570D-5C33-409B-BD64-86BE851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207008"/>
            <a:ext cx="192024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Stratified split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80,000 train / 20,000 test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47645F5D-30BA-4A37-9157-599BA92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9456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B. Federated workflow (Sprint 2)</a:t>
            </a:r>
          </a:p>
        </p:txBody>
      </p:sp>
      <p:sp>
        <p:nvSpPr>
          <p:cNvPr id="113" name="Rounded Rectangle 112">
            <a:extLst xmlns:a="http://schemas.openxmlformats.org/drawingml/2006/main">
              <a:ext uri="{FF2B5EF4-FFF2-40B4-BE49-F238E27FC236}">
                <a16:creationId xmlns:a16="http://schemas.microsoft.com/office/drawing/2014/main" id="{F737D0C7-25A8-4CD9-AF28-37760A3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3472"/>
            <a:ext cx="292608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D00EE5A9-E1D7-49BC-A175-FE93AC4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2615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Simulated client 0: local partition, local training</a:t>
            </a:r>
          </a:p>
        </p:txBody>
      </p:sp>
      <p:sp>
        <p:nvSpPr>
          <p:cNvPr id="115" name="Connector 114">
            <a:extLst xmlns:a="http://schemas.openxmlformats.org/drawingml/2006/main">
              <a:ext uri="{FF2B5EF4-FFF2-40B4-BE49-F238E27FC236}">
                <a16:creationId xmlns:a16="http://schemas.microsoft.com/office/drawing/2014/main" id="{AA917E66-A691-4A18-8E16-B70959F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80360"/>
            <a:ext cx="1371600" cy="594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6" name="Rounded Rectangle 115">
            <a:extLst xmlns:a="http://schemas.openxmlformats.org/drawingml/2006/main">
              <a:ext uri="{FF2B5EF4-FFF2-40B4-BE49-F238E27FC236}">
                <a16:creationId xmlns:a16="http://schemas.microsoft.com/office/drawing/2014/main" id="{1FC02907-FB30-42AB-B949-7F757A2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27832"/>
            <a:ext cx="292608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F2B6F3BD-6CD4-4015-95DC-C8DC173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697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Simulated client 1: local partition, local training</a:t>
            </a:r>
          </a:p>
        </p:txBody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668185A7-575C-4E76-BF81-E4F7AE6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47472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9" name="Rounded Rectangle 118">
            <a:extLst xmlns:a="http://schemas.openxmlformats.org/drawingml/2006/main">
              <a:ext uri="{FF2B5EF4-FFF2-40B4-BE49-F238E27FC236}">
                <a16:creationId xmlns:a16="http://schemas.microsoft.com/office/drawing/2014/main" id="{9966BA08-4DE4-4064-AD4B-BC57294F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22191"/>
            <a:ext cx="292608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64DB12C9-301B-42BB-8873-6229782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133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Simulated client 2: local partition, local training</a:t>
            </a:r>
          </a:p>
        </p:txBody>
      </p:sp>
      <p:sp>
        <p:nvSpPr>
          <p:cNvPr id="121" name="Connector 120">
            <a:extLst xmlns:a="http://schemas.openxmlformats.org/drawingml/2006/main">
              <a:ext uri="{FF2B5EF4-FFF2-40B4-BE49-F238E27FC236}">
                <a16:creationId xmlns:a16="http://schemas.microsoft.com/office/drawing/2014/main" id="{08103652-10B2-403B-BE27-DC764988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37560" y="3474720"/>
            <a:ext cx="1371600" cy="594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2" name="Rounded Rectangle 121">
            <a:extLst xmlns:a="http://schemas.openxmlformats.org/drawingml/2006/main">
              <a:ext uri="{FF2B5EF4-FFF2-40B4-BE49-F238E27FC236}">
                <a16:creationId xmlns:a16="http://schemas.microsoft.com/office/drawing/2014/main" id="{6ED254CD-F878-43CC-9B49-6F3F12D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26080"/>
            <a:ext cx="2743200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63D71F97-E8A2-4BE4-8817-D33DEBF4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44368"/>
            <a:ext cx="265176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FedAvg server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weights averaged, weighted by client data size</a:t>
            </a:r>
          </a:p>
        </p:txBody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84E0A2DF-551E-47E3-9659-990C562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474720"/>
            <a:ext cx="1371601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559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5" name="Rounded Rectangle 124">
            <a:extLst xmlns:a="http://schemas.openxmlformats.org/drawingml/2006/main">
              <a:ext uri="{FF2B5EF4-FFF2-40B4-BE49-F238E27FC236}">
                <a16:creationId xmlns:a16="http://schemas.microsoft.com/office/drawing/2014/main" id="{A7D5D739-17D3-4353-BEA9-0C4FF3D5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26080"/>
            <a:ext cx="2834640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6C103DAF-D4FC-42AF-90FE-AFA993FD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944368"/>
            <a:ext cx="27432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Global model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MLP 10-16-1, saved as global_model.pkl</a:t>
            </a:r>
          </a:p>
        </p:txBody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865752E6-B975-4D80-8CD8-177F62DE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89120"/>
            <a:ext cx="11338560" cy="451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Each round, simulated clients train locally and FedAvg combines model weights by client size. Raw examples are not sent to the server. The project also includes a five-round Flower run with three clients.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909C5EA4-E221-4817-B637-87C71886F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Dataset and Feature Engineering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Rounded Rectangle 96">
            <a:extLst xmlns:a="http://schemas.openxmlformats.org/drawingml/2006/main">
              <a:ext uri="{FF2B5EF4-FFF2-40B4-BE49-F238E27FC236}">
                <a16:creationId xmlns:a16="http://schemas.microsoft.com/office/drawing/2014/main" id="{45D7DAA5-6F24-4402-9CEA-50F90EC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2926080" cy="9601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05B867E8-812B-4DC4-AF70-BFD1B50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100,000 rows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Edge-IIoTset sample: 80,000 train, 20,000 test</a:t>
            </a:r>
          </a:p>
        </p:txBody>
      </p:sp>
      <p:sp>
        <p:nvSpPr>
          <p:cNvPr id="99" name="Rounded Rectangle 98">
            <a:extLst xmlns:a="http://schemas.openxmlformats.org/drawingml/2006/main">
              <a:ext uri="{FF2B5EF4-FFF2-40B4-BE49-F238E27FC236}">
                <a16:creationId xmlns:a16="http://schemas.microsoft.com/office/drawing/2014/main" id="{ABDC830D-9FDF-4A01-9860-66BC9A30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38528"/>
            <a:ext cx="2926080" cy="9601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TextBox 99">
            <a:extLst xmlns:a="http://schemas.openxmlformats.org/drawingml/2006/main">
              <a:ext uri="{FF2B5EF4-FFF2-40B4-BE49-F238E27FC236}">
                <a16:creationId xmlns:a16="http://schemas.microsoft.com/office/drawing/2014/main" id="{D4E1BFEB-6D80-4F85-B67A-C5DD449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84248"/>
            <a:ext cx="2743200" cy="56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traffic categories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Model target: Normal vs. DDoS</a:t>
            </a:r>
          </a:p>
        </p:txBody>
      </p:sp>
      <p:sp>
        <p:nvSpPr>
          <p:cNvPr id="101" name="Rounded Rectangle 100">
            <a:extLst xmlns:a="http://schemas.openxmlformats.org/drawingml/2006/main">
              <a:ext uri="{FF2B5EF4-FFF2-40B4-BE49-F238E27FC236}">
                <a16:creationId xmlns:a16="http://schemas.microsoft.com/office/drawing/2014/main" id="{411A92E7-0C61-43B7-BBD9-377931E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08376"/>
            <a:ext cx="2926080" cy="1600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232C55FA-4CA8-4460-BAF1-80A603C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54096"/>
            <a:ext cx="27432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10 features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tcp_syn, tcp_ack, tcp_rst, tcp_fin, tcp_len, udp_present, icmp_present, http_present, mqtt_msgtype, mqtt_len</a:t>
            </a:r>
          </a:p>
        </p:txBody>
      </p:sp>
      <p:pic>
        <p:nvPicPr>
          <p:cNvPr id="103" name="Picture 102">
            <a:extLst xmlns:a="http://schemas.openxmlformats.org/drawingml/2006/main">
              <a:ext uri="{FF2B5EF4-FFF2-40B4-BE49-F238E27FC236}">
                <a16:creationId xmlns:a16="http://schemas.microsoft.com/office/drawing/2014/main" id="{25BAA1CA-9F5D-404D-9450-FCFB15E50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472ec17c6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8345" y="868680"/>
            <a:ext cx="3724668" cy="219456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1E6"/>
            </a:solidFill>
          </a:ln>
        </p:spPr>
      </p:pic>
      <p:pic>
        <p:nvPicPr>
          <p:cNvPr id="104" name="Picture 103">
            <a:extLst xmlns:a="http://schemas.openxmlformats.org/drawingml/2006/main">
              <a:ext uri="{FF2B5EF4-FFF2-40B4-BE49-F238E27FC236}">
                <a16:creationId xmlns:a16="http://schemas.microsoft.com/office/drawing/2014/main" id="{2E224C4A-4918-4E45-87C1-149892951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3bbaf5e5e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79" y="868680"/>
            <a:ext cx="4251960" cy="2083053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1E6"/>
            </a:solidFill>
          </a:ln>
        </p:spPr>
      </p:pic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2FAA96ED-135F-48DF-9A79-84D321A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20040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Observations</a:t>
            </a:r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BD0EA7B1-4461-4FF4-96B9-7F250DE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520440"/>
            <a:ext cx="8229600" cy="1147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TCP and ICMP attacks show clear signals; HTTP traffic shows TCP-flag patterns. All 12,500 sampled DDoS_UDP rows map to zero across all 10 features.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The model target is binary, not attack type. Add a UDP-specific feature (such as UDP port) and re-evaluate before claiming UDP coverage.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BD0614DE-3673-4721-8622-DF99BED57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Development Status and Evidence</a:t>
            </a:r>
            <a:endParaRPr>
              <a:latin typeface="Cambria"/>
              <a:ea typeface="Cambria"/>
              <a:cs typeface="Cambria"/>
            </a:endParaRPr>
          </a:p>
        </p:txBody>
      </p:sp>
      <p:graphicFrame>
        <p:nvGraphicFramePr>
          <p:cNvPr id="97" name="Table 96">
            <a:extLst xmlns:a="http://schemas.openxmlformats.org/drawingml/2006/main">
              <a:ext uri="{FF2B5EF4-FFF2-40B4-BE49-F238E27FC236}">
                <a16:creationId xmlns:a16="http://schemas.microsoft.com/office/drawing/2014/main" id="{9B751FF6-7E5F-46A3-A638-D45E62E66E4E}"/>
              </a:ext>
            </a:extLst>
          </p:cNvPr>
          <p:cNvGraphicFramePr/>
          <p:nvPr/>
        </p:nvGraphicFramePr>
        <p:xfrm>
          <a:off xmlns:a="http://schemas.openxmlformats.org/drawingml/2006/main" x="384048" y="868680"/>
          <a:ext xmlns:a="http://schemas.openxmlformats.org/drawingml/2006/main" cx="11430000" cy="3950208"/>
        </p:xfrm>
        <a:graphic xmlns:a="http://schemas.openxmlformats.org/drawingml/2006/main"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/>
                <a:gridCol w="4480560"/>
                <a:gridCol w="1280160"/>
                <a:gridCol w="3566160"/>
              </a:tblGrid>
              <a:tr h="438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was built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Dataset &amp; EDA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Load, filter 5 classes, balanced sample, 10 features, split; class and feature plots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100,000 rows; reports/*.png, dataset_summary.md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Baseline classifiers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 and Naive Bayes (centralised)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Accuracy 0.9127 and 0.6738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FedAvg simulation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3 clients, IID and non-IID, 10 rounds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Accuracy 0.9076, ROC-AUC 0.9605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Flower deployment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Real Flower server and 3 clients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5 rounds; accuracy 0.9012, F1 0.8991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Automated tests for core modules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5 passed (pytest)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Sprint 3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Real-time alerts (FastAPI), InfluxDB storage, mitigation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200" b="0">
                        <a:solidFill>
                          <a:srgbClr val="222B4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Sprint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Benchmarking and final evaluation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Sprint 5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and final demo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90726D2E-F728-43FA-906F-B3A637553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FL Convergence: IID vs Non-IID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97" name="Picture 96">
            <a:extLst xmlns:a="http://schemas.openxmlformats.org/drawingml/2006/main">
              <a:ext uri="{FF2B5EF4-FFF2-40B4-BE49-F238E27FC236}">
                <a16:creationId xmlns:a16="http://schemas.microsoft.com/office/drawing/2014/main" id="{7D7BE71B-D2E6-4649-A091-C148FB874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d66ca6ba4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62" y="868680"/>
            <a:ext cx="4855074" cy="3200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1E6"/>
            </a:solidFill>
          </a:ln>
        </p:spPr>
      </p:pic>
      <p:pic>
        <p:nvPicPr>
          <p:cNvPr id="98" name="Picture 97">
            <a:extLst xmlns:a="http://schemas.openxmlformats.org/drawingml/2006/main">
              <a:ext uri="{FF2B5EF4-FFF2-40B4-BE49-F238E27FC236}">
                <a16:creationId xmlns:a16="http://schemas.microsoft.com/office/drawing/2014/main" id="{CA8734A6-5492-42DD-9551-AE2F7F7C6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709725e164b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3036" y="868680"/>
            <a:ext cx="4827607" cy="3200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1E6"/>
            </a:solidFill>
          </a:ln>
        </p:spPr>
      </p:pic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1387E91A-2105-4B82-8FDF-52B3086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60520"/>
            <a:ext cx="11338560" cy="1009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At round 10, both runs reach 0.9076 accuracy and 0.9062 F1; ROC-AUC is 0.9606 (IID) and 0.9605 (non-IID). Non-IID starts lower (0.879 vs. 0.888) and catches up.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4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Recall dips at IID rounds 6 and 8 (0.8178 and 0.8275); missed attacks remain an important metric to monitor.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F51C1DBA-EC8C-430E-B874-56BCBC421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Model Comparison &amp; Flower Run</a:t>
            </a:r>
            <a:endParaRPr>
              <a:latin typeface="Cambria"/>
              <a:ea typeface="Cambria"/>
              <a:cs typeface="Cambria"/>
            </a:endParaRPr>
          </a:p>
        </p:txBody>
      </p:sp>
      <p:graphicFrame>
        <p:nvGraphicFramePr>
          <p:cNvPr id="97" name="Table 96">
            <a:extLst xmlns:a="http://schemas.openxmlformats.org/drawingml/2006/main">
              <a:ext uri="{FF2B5EF4-FFF2-40B4-BE49-F238E27FC236}">
                <a16:creationId xmlns:a16="http://schemas.microsoft.com/office/drawing/2014/main" id="{63E6309F-184E-445C-886F-135C051916C2}"/>
              </a:ext>
            </a:extLst>
          </p:cNvPr>
          <p:cNvGraphicFramePr/>
          <p:nvPr/>
        </p:nvGraphicFramePr>
        <p:xfrm>
          <a:off xmlns:a="http://schemas.openxmlformats.org/drawingml/2006/main" x="384048" y="868680"/>
          <a:ext xmlns:a="http://schemas.openxmlformats.org/drawingml/2006/main" cx="5577840" cy="3017520"/>
        </p:xfrm>
        <a:graphic xmlns:a="http://schemas.openxmlformats.org/drawingml/2006/main"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1760"/>
                <a:gridCol w="1005840"/>
                <a:gridCol w="91440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 (centralised)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0.9127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0.9616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Naive Bayes (centralised)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0.6738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0.7520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0.8698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FedAvg MLP, IID (10 rounds)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0.9076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0.9062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0.9606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FedAvg MLP, non-IID (10 rounds)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0.9076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0.9062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0.9605</a:t>
                      </a:r>
                    </a:p>
                  </a:txBody>
                  <a:tcPr marL="73152" marR="73152" marT="27432" marB="27432" anchor="ctr">
                    <a:solidFill>
                      <a:srgbClr val="F3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Flower run (5 rounds)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0.9012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0.8991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22B45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Rounded Rectangle 98">
            <a:extLst xmlns:a="http://schemas.openxmlformats.org/drawingml/2006/main">
              <a:ext uri="{FF2B5EF4-FFF2-40B4-BE49-F238E27FC236}">
                <a16:creationId xmlns:a16="http://schemas.microsoft.com/office/drawing/2014/main" id="{AA5E5AB5-A49B-4A24-A7E2-8B3D9447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206240"/>
            <a:ext cx="11384280" cy="7772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TextBox 99">
            <a:extLst xmlns:a="http://schemas.openxmlformats.org/drawingml/2006/main">
              <a:ext uri="{FF2B5EF4-FFF2-40B4-BE49-F238E27FC236}">
                <a16:creationId xmlns:a16="http://schemas.microsoft.com/office/drawing/2014/main" id="{116D5BFB-465C-4E3B-A95F-74857EAA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1115568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400" b="1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Test split: 20,000 examples from a balanced, stratified sample. The reported task is binary classification: Normal vs. DDoS.</a:t>
            </a:r>
          </a:p>
        </p:txBody>
      </p:sp>
      <p:sp>
        <p:nvSpPr>
          <p:cNvPr id="101" name="comparison-interpretation-heading">
            <a:extLst xmlns:a="http://schemas.openxmlformats.org/drawingml/2006/main">
              <a:ext uri="{FF2B5EF4-FFF2-40B4-BE49-F238E27FC236}">
                <a16:creationId xmlns:a16="http://schemas.microsoft.com/office/drawing/2014/main" id="{EAF1B781-D36A-4843-ABD9-9F6859ED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01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102" name="comparison-interpretation">
            <a:extLst xmlns:a="http://schemas.openxmlformats.org/drawingml/2006/main">
              <a:ext uri="{FF2B5EF4-FFF2-40B4-BE49-F238E27FC236}">
                <a16:creationId xmlns:a16="http://schemas.microsoft.com/office/drawing/2014/main" id="{D0AA6D5A-3C72-4C7B-A067-B88A705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76375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FedAvg reaches 0.9076 accuracy, 0.51 percentage points below the Decision Tree, while sharing model weights instead of raw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Evaluation limit: the model predicts Normal vs. DDoS. All sampled UDP-DDoS rows map to zero with the current features, so UDP detection is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Next: add a UDP-specific feature and report performance by attack type.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298D0A6E-5075-4009-97C4-6B0F89B2F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Database Design &amp; Backend Integration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Rounded Rectangle 96">
            <a:extLst xmlns:a="http://schemas.openxmlformats.org/drawingml/2006/main">
              <a:ext uri="{FF2B5EF4-FFF2-40B4-BE49-F238E27FC236}">
                <a16:creationId xmlns:a16="http://schemas.microsoft.com/office/drawing/2014/main" id="{EAE231F4-2DB3-4EEF-9A93-6503960A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5486400" cy="4114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F22E66E4-C61F-4A79-8EF1-0E82674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Implemented (Sprints 1-2): file-based storage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79E66C2F-BAF9-474C-A505-E82EEA3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21208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Input: dataset/DNN-EdgeIIoT-dataset.csv, read by src/data_pipeline.py.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Models: decision_tree.pkl, naive_bayes.pkl and global_model.pkl in models/, written and reloaded by src/model_io.py.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Results: fl_history*.json, fl_flower_history.json and the report plots in reports/.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Flower backend: src/fl/server.py and client.py run FedAvg over gRPC and save the global model.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Settings kept in one place: src/config.py.</a:t>
            </a:r>
          </a:p>
        </p:txBody>
      </p:sp>
      <p:sp>
        <p:nvSpPr>
          <p:cNvPr id="100" name="Rounded Rectangle 99">
            <a:extLst xmlns:a="http://schemas.openxmlformats.org/drawingml/2006/main">
              <a:ext uri="{FF2B5EF4-FFF2-40B4-BE49-F238E27FC236}">
                <a16:creationId xmlns:a16="http://schemas.microsoft.com/office/drawing/2014/main" id="{0333D0DD-598B-4E3C-9BD3-28CFE49B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868680"/>
            <a:ext cx="5486400" cy="4114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2700">
            <a:solidFill>
              <a:srgbClr val="E6C8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ED939E05-3CEC-414B-91AA-04B5BE6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91440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Planned design (Sprint 3)</a:t>
            </a: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7C4145D-563C-4B2A-9F49-87EE78B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1208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InfluxDB measurement  traffic: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tag device_id; fields tcp_syn, tcp_ack, tcp_rst, tcp_fin, tcp_len, mqtt_msgtype, mqtt_len.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InfluxDB measurement  detections: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tags device_id, model; fields label, score.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FastAPI service: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/predict to score a feature vector, /alerts to list detections, /mitigate to trigger drop or block rules.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Live path: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ESP32 publishes over MQTT, features are computed from live packets, the global model classifies, alerts are written to InfluxDB.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E97DC6CA-CFB9-4D5F-A23D-457735E8F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Review II Deliverables and Validation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97" name="Rounded Rectangle 96">
            <a:extLst xmlns:a="http://schemas.openxmlformats.org/drawingml/2006/main">
              <a:ext uri="{FF2B5EF4-FFF2-40B4-BE49-F238E27FC236}">
                <a16:creationId xmlns:a16="http://schemas.microsoft.com/office/drawing/2014/main" id="{834E8B29-2B00-4E9C-98CD-74440A9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0"/>
            <a:ext cx="5120640" cy="331720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12700">
            <a:solidFill>
              <a:srgbClr val="C9D1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9FDF78F0-EB56-495C-BF23-3CB44A13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1539551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Review II package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8E363C94-AFBA-4C86-9C0B-57E84B4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5311"/>
            <a:ext cx="4846320" cy="18251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src</a:t>
            </a: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/ 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config, features,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data_pipeline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eda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train_baselines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model_io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, metrics and the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fl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/ package (client, server, simulate, common).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tests/ 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5 automated tests, all passing.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models/ 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3 saved models.</a:t>
            </a:r>
          </a:p>
          <a:p xmlns:a="http://schemas.openxmlformats.org/drawingml/2006/main">
            <a:pPr marL="228600" indent="-228600">
              <a:spcAft>
                <a:spcPts val="400"/>
              </a:spcAft>
              <a:buChar char="•"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reports/ : </a:t>
            </a:r>
            <a:r>
              <a:rPr sz="15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dataset summary, class and feature plots, IID, non-IID and Flower histories, convergence charts.</a:t>
            </a:r>
          </a:p>
        </p:txBody>
      </p:sp>
      <p:sp>
        <p:nvSpPr>
          <p:cNvPr id="100" name="TextBox 99">
            <a:extLst xmlns:a="http://schemas.openxmlformats.org/drawingml/2006/main">
              <a:ext uri="{FF2B5EF4-FFF2-40B4-BE49-F238E27FC236}">
                <a16:creationId xmlns:a16="http://schemas.microsoft.com/office/drawing/2014/main" id="{0B91BF4A-5F81-4620-A475-66C77F31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1772255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373EEB1D-0FE1-4610-BE08-3F36CC8A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948" y="2743199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Baseline training log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53DDBD68-2CDB-4864-9EB8-6C8D334D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3510742"/>
            <a:ext cx="5943600" cy="451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The reported results use the supplied Edge-IIoTset sample and project scripts; the repository contains the code, models, plots and test suite.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97D5F34-99B7-4782-B8C4-74F9C863C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3793f7b4b4f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06238" y="3063239"/>
            <a:ext cx="5376112" cy="412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C2E7470-5F98-4469-B53F-195CF2280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07ccc88a94353"/>
          <a:srcRect xmlns:a="http://schemas.openxmlformats.org/drawingml/2006/main" l="0" t="28124" r="66351" b="50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1948" y="2102480"/>
            <a:ext cx="2640532" cy="227848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1E6"/>
            </a:solidFill>
          </a:ln>
        </p:spPr>
      </p:pic>
    </p:spTree>
    <p:extLst>
      <p:ext uri="{BB962C8B-B14F-4D97-AF65-F5344CB8AC3E}">
        <p14:creationId xmlns:p14="http://schemas.microsoft.com/office/powerpoint/2010/main" val="21434518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A7EE171-E143-6383-8BA5-E447B945E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7823" y="-17758"/>
            <a:ext cx="10696354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mbria"/>
                <a:ea typeface="Cambria"/>
                <a:cs typeface="Cambria"/>
              </a:rPr>
              <a:t>Tools and Technologies Used</a:t>
            </a:r>
          </a:p>
        </p:txBody>
      </p:sp>
      <p:sp>
        <p:nvSpPr>
          <p:cNvPr id="200" name="Card0">
            <a:extLst xmlns:a="http://schemas.openxmlformats.org/drawingml/2006/main">
              <a:ext uri="{FF2B5EF4-FFF2-40B4-BE49-F238E27FC236}">
                <a16:creationId xmlns:a16="http://schemas.microsoft.com/office/drawing/2014/main" id="{D061D28F-F4E3-4558-B397-9CAC939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00" y="120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Icon0">
            <a:extLst xmlns:a="http://schemas.openxmlformats.org/drawingml/2006/main">
              <a:ext uri="{FF2B5EF4-FFF2-40B4-BE49-F238E27FC236}">
                <a16:creationId xmlns:a16="http://schemas.microsoft.com/office/drawing/2014/main" id="{21920CE8-A359-4689-B5AE-D453168F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00" y="133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HW</a:t>
            </a:r>
          </a:p>
        </p:txBody>
      </p:sp>
      <p:sp>
        <p:nvSpPr>
          <p:cNvPr id="202" name="Title0">
            <a:extLst xmlns:a="http://schemas.openxmlformats.org/drawingml/2006/main">
              <a:ext uri="{FF2B5EF4-FFF2-40B4-BE49-F238E27FC236}">
                <a16:creationId xmlns:a16="http://schemas.microsoft.com/office/drawing/2014/main" id="{1285572D-99AD-4D7F-9E1B-1912580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0" y="185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Hardware</a:t>
            </a:r>
          </a:p>
        </p:txBody>
      </p:sp>
      <p:sp>
        <p:nvSpPr>
          <p:cNvPr id="203" name="Desc0">
            <a:extLst xmlns:a="http://schemas.openxmlformats.org/drawingml/2006/main">
              <a:ext uri="{FF2B5EF4-FFF2-40B4-BE49-F238E27FC236}">
                <a16:creationId xmlns:a16="http://schemas.microsoft.com/office/drawing/2014/main" id="{B9BE3CD6-3BD1-432A-AA94-9306531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0" y="213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ESP32 </a:t>
            </a:r>
            <a:r>
              <a:rPr sz="1400">
                <a:solidFill>
                  <a:srgbClr val="555555"/>
                </a:solidFill>
              </a:rPr>
              <a:t>DevKit</a:t>
            </a:r>
            <a:r>
              <a:rPr sz="1400">
                <a:solidFill>
                  <a:srgbClr val="555555"/>
                </a:solidFill>
              </a:rPr>
              <a:t> V1, mini breadboard, micro-USB</a:t>
            </a:r>
          </a:p>
        </p:txBody>
      </p:sp>
      <p:sp>
        <p:nvSpPr>
          <p:cNvPr id="204" name="Card1">
            <a:extLst xmlns:a="http://schemas.openxmlformats.org/drawingml/2006/main">
              <a:ext uri="{FF2B5EF4-FFF2-40B4-BE49-F238E27FC236}">
                <a16:creationId xmlns:a16="http://schemas.microsoft.com/office/drawing/2014/main" id="{D3EE171C-4D04-4B22-AA97-3A7F71E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00" y="120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5" name="Icon1">
            <a:extLst xmlns:a="http://schemas.openxmlformats.org/drawingml/2006/main">
              <a:ext uri="{FF2B5EF4-FFF2-40B4-BE49-F238E27FC236}">
                <a16:creationId xmlns:a16="http://schemas.microsoft.com/office/drawing/2014/main" id="{E925F0C4-745D-4381-9F54-6A5A11B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600" y="133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IoT</a:t>
            </a:r>
          </a:p>
        </p:txBody>
      </p:sp>
      <p:sp>
        <p:nvSpPr>
          <p:cNvPr id="206" name="Title1">
            <a:extLst xmlns:a="http://schemas.openxmlformats.org/drawingml/2006/main">
              <a:ext uri="{FF2B5EF4-FFF2-40B4-BE49-F238E27FC236}">
                <a16:creationId xmlns:a16="http://schemas.microsoft.com/office/drawing/2014/main" id="{685E542D-041C-4FC5-8CD9-9012C28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00" y="185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IoT Protocol</a:t>
            </a:r>
          </a:p>
        </p:txBody>
      </p:sp>
      <p:sp>
        <p:nvSpPr>
          <p:cNvPr id="207" name="Desc1">
            <a:extLst xmlns:a="http://schemas.openxmlformats.org/drawingml/2006/main">
              <a:ext uri="{FF2B5EF4-FFF2-40B4-BE49-F238E27FC236}">
                <a16:creationId xmlns:a16="http://schemas.microsoft.com/office/drawing/2014/main" id="{7C9D6B1B-AEF7-4122-BFC7-AE90D50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400" y="213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MQTT — Eclipse </a:t>
            </a:r>
            <a:r>
              <a:rPr sz="1400">
                <a:solidFill>
                  <a:srgbClr val="555555"/>
                </a:solidFill>
              </a:rPr>
              <a:t>Mosquitto</a:t>
            </a:r>
            <a:r>
              <a:rPr sz="1400">
                <a:solidFill>
                  <a:srgbClr val="555555"/>
                </a:solidFill>
              </a:rPr>
              <a:t> broker</a:t>
            </a:r>
          </a:p>
        </p:txBody>
      </p:sp>
      <p:sp>
        <p:nvSpPr>
          <p:cNvPr id="208" name="Card2">
            <a:extLst xmlns:a="http://schemas.openxmlformats.org/drawingml/2006/main">
              <a:ext uri="{FF2B5EF4-FFF2-40B4-BE49-F238E27FC236}">
                <a16:creationId xmlns:a16="http://schemas.microsoft.com/office/drawing/2014/main" id="{C9AB00F6-8046-4C58-ABFA-7D7BA9E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800" y="120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9" name="Icon2">
            <a:extLst xmlns:a="http://schemas.openxmlformats.org/drawingml/2006/main">
              <a:ext uri="{FF2B5EF4-FFF2-40B4-BE49-F238E27FC236}">
                <a16:creationId xmlns:a16="http://schemas.microsoft.com/office/drawing/2014/main" id="{92C1CCEA-2B67-4914-A472-46C1CB8D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000" y="133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PY</a:t>
            </a:r>
          </a:p>
        </p:txBody>
      </p:sp>
      <p:sp>
        <p:nvSpPr>
          <p:cNvPr id="210" name="Title2">
            <a:extLst xmlns:a="http://schemas.openxmlformats.org/drawingml/2006/main">
              <a:ext uri="{FF2B5EF4-FFF2-40B4-BE49-F238E27FC236}">
                <a16:creationId xmlns:a16="http://schemas.microsoft.com/office/drawing/2014/main" id="{E53B994E-EEF0-4057-8B55-C1CBC95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800" y="185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Programming</a:t>
            </a:r>
          </a:p>
        </p:txBody>
      </p:sp>
      <p:sp>
        <p:nvSpPr>
          <p:cNvPr id="211" name="Desc2">
            <a:extLst xmlns:a="http://schemas.openxmlformats.org/drawingml/2006/main">
              <a:ext uri="{FF2B5EF4-FFF2-40B4-BE49-F238E27FC236}">
                <a16:creationId xmlns:a16="http://schemas.microsoft.com/office/drawing/2014/main" id="{AAF1218B-285A-4F8B-A47A-197398E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800" y="213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Python 3.11; C++ / Arduino IDE</a:t>
            </a:r>
          </a:p>
        </p:txBody>
      </p:sp>
      <p:sp>
        <p:nvSpPr>
          <p:cNvPr id="212" name="Card3">
            <a:extLst xmlns:a="http://schemas.openxmlformats.org/drawingml/2006/main">
              <a:ext uri="{FF2B5EF4-FFF2-40B4-BE49-F238E27FC236}">
                <a16:creationId xmlns:a16="http://schemas.microsoft.com/office/drawing/2014/main" id="{83B84CA6-CC77-48BE-859E-3763C778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00" y="120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3" name="Icon3">
            <a:extLst xmlns:a="http://schemas.openxmlformats.org/drawingml/2006/main">
              <a:ext uri="{FF2B5EF4-FFF2-40B4-BE49-F238E27FC236}">
                <a16:creationId xmlns:a16="http://schemas.microsoft.com/office/drawing/2014/main" id="{550057BD-BC09-401F-8819-DB358E3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400" y="133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17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ML</a:t>
            </a:r>
          </a:p>
        </p:txBody>
      </p:sp>
      <p:sp>
        <p:nvSpPr>
          <p:cNvPr id="214" name="Title3">
            <a:extLst xmlns:a="http://schemas.openxmlformats.org/drawingml/2006/main">
              <a:ext uri="{FF2B5EF4-FFF2-40B4-BE49-F238E27FC236}">
                <a16:creationId xmlns:a16="http://schemas.microsoft.com/office/drawing/2014/main" id="{F53992E9-9295-4A2C-B1CD-3A9E1A4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200" y="185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ML &amp; Numerical Libraries</a:t>
            </a:r>
          </a:p>
        </p:txBody>
      </p:sp>
      <p:sp>
        <p:nvSpPr>
          <p:cNvPr id="215" name="Desc3">
            <a:extLst xmlns:a="http://schemas.openxmlformats.org/drawingml/2006/main">
              <a:ext uri="{FF2B5EF4-FFF2-40B4-BE49-F238E27FC236}">
                <a16:creationId xmlns:a16="http://schemas.microsoft.com/office/drawing/2014/main" id="{3063124A-DED5-4A96-B8B2-5099F150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200" y="213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Pandas, NumPy, Scikit-learn</a:t>
            </a:r>
          </a:p>
        </p:txBody>
      </p:sp>
      <p:sp>
        <p:nvSpPr>
          <p:cNvPr id="216" name="Card4">
            <a:extLst xmlns:a="http://schemas.openxmlformats.org/drawingml/2006/main">
              <a:ext uri="{FF2B5EF4-FFF2-40B4-BE49-F238E27FC236}">
                <a16:creationId xmlns:a16="http://schemas.microsoft.com/office/drawing/2014/main" id="{92EA5653-C771-4B9E-A8DB-03CB36C3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00" y="120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7" name="Icon4">
            <a:extLst xmlns:a="http://schemas.openxmlformats.org/drawingml/2006/main">
              <a:ext uri="{FF2B5EF4-FFF2-40B4-BE49-F238E27FC236}">
                <a16:creationId xmlns:a16="http://schemas.microsoft.com/office/drawing/2014/main" id="{188EA46B-F8B4-4D82-AD25-E08F47C3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800" y="133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4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FL</a:t>
            </a:r>
          </a:p>
        </p:txBody>
      </p:sp>
      <p:sp>
        <p:nvSpPr>
          <p:cNvPr id="218" name="Title4">
            <a:extLst xmlns:a="http://schemas.openxmlformats.org/drawingml/2006/main">
              <a:ext uri="{FF2B5EF4-FFF2-40B4-BE49-F238E27FC236}">
                <a16:creationId xmlns:a16="http://schemas.microsoft.com/office/drawing/2014/main" id="{4D502C7A-2795-47DD-A195-3C65A09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600" y="185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Federated Learning</a:t>
            </a:r>
          </a:p>
        </p:txBody>
      </p:sp>
      <p:sp>
        <p:nvSpPr>
          <p:cNvPr id="219" name="Desc4">
            <a:extLst xmlns:a="http://schemas.openxmlformats.org/drawingml/2006/main">
              <a:ext uri="{FF2B5EF4-FFF2-40B4-BE49-F238E27FC236}">
                <a16:creationId xmlns:a16="http://schemas.microsoft.com/office/drawing/2014/main" id="{15E1D5A7-3F24-4599-9BF1-500298FB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00" y="213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Flower (</a:t>
            </a:r>
            <a:r>
              <a:rPr sz="1400">
                <a:solidFill>
                  <a:srgbClr val="555555"/>
                </a:solidFill>
              </a:rPr>
              <a:t>flwr</a:t>
            </a:r>
            <a:r>
              <a:rPr sz="1400">
                <a:solidFill>
                  <a:srgbClr val="555555"/>
                </a:solidFill>
              </a:rPr>
              <a:t>) — </a:t>
            </a:r>
            <a:r>
              <a:rPr sz="1400">
                <a:solidFill>
                  <a:srgbClr val="555555"/>
                </a:solidFill>
              </a:rPr>
              <a:t>FedAvg</a:t>
            </a:r>
            <a:r>
              <a:rPr sz="1400">
                <a:solidFill>
                  <a:srgbClr val="555555"/>
                </a:solidFill>
              </a:rPr>
              <a:t> aggregation</a:t>
            </a:r>
          </a:p>
        </p:txBody>
      </p:sp>
      <p:sp>
        <p:nvSpPr>
          <p:cNvPr id="220" name="Card5">
            <a:extLst xmlns:a="http://schemas.openxmlformats.org/drawingml/2006/main">
              <a:ext uri="{FF2B5EF4-FFF2-40B4-BE49-F238E27FC236}">
                <a16:creationId xmlns:a16="http://schemas.microsoft.com/office/drawing/2014/main" id="{F8A3A36E-2709-437A-A605-77BD1A89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00" y="315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sp>
        <p:nvSpPr>
          <p:cNvPr id="221" name="Icon5">
            <a:extLst xmlns:a="http://schemas.openxmlformats.org/drawingml/2006/main">
              <a:ext uri="{FF2B5EF4-FFF2-40B4-BE49-F238E27FC236}">
                <a16:creationId xmlns:a16="http://schemas.microsoft.com/office/drawing/2014/main" id="{20F13B64-087F-40CF-A185-9151CDC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00" y="328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222" name="Title5">
            <a:extLst xmlns:a="http://schemas.openxmlformats.org/drawingml/2006/main">
              <a:ext uri="{FF2B5EF4-FFF2-40B4-BE49-F238E27FC236}">
                <a16:creationId xmlns:a16="http://schemas.microsoft.com/office/drawing/2014/main" id="{630D0306-B1DC-4735-A0BC-197B57A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0" y="380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Backend API</a:t>
            </a:r>
          </a:p>
        </p:txBody>
      </p:sp>
      <p:sp>
        <p:nvSpPr>
          <p:cNvPr id="223" name="Desc5">
            <a:extLst xmlns:a="http://schemas.openxmlformats.org/drawingml/2006/main">
              <a:ext uri="{FF2B5EF4-FFF2-40B4-BE49-F238E27FC236}">
                <a16:creationId xmlns:a16="http://schemas.microsoft.com/office/drawing/2014/main" id="{B13C48F2-D0B5-4148-86D3-4AE6F21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0" y="408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Planned: FastAPI for prediction and alerts</a:t>
            </a:r>
          </a:p>
        </p:txBody>
      </p:sp>
      <p:sp>
        <p:nvSpPr>
          <p:cNvPr id="224" name="Card6">
            <a:extLst xmlns:a="http://schemas.openxmlformats.org/drawingml/2006/main">
              <a:ext uri="{FF2B5EF4-FFF2-40B4-BE49-F238E27FC236}">
                <a16:creationId xmlns:a16="http://schemas.microsoft.com/office/drawing/2014/main" id="{9DF5030C-2C6A-4C8C-BAE6-C3B376FF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00" y="315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5" name="Icon6">
            <a:extLst xmlns:a="http://schemas.openxmlformats.org/drawingml/2006/main">
              <a:ext uri="{FF2B5EF4-FFF2-40B4-BE49-F238E27FC236}">
                <a16:creationId xmlns:a16="http://schemas.microsoft.com/office/drawing/2014/main" id="{960E1847-9448-49D8-8B88-C78AF504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600" y="328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8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EVAL</a:t>
            </a:r>
          </a:p>
        </p:txBody>
      </p:sp>
      <p:sp>
        <p:nvSpPr>
          <p:cNvPr id="226" name="Title6">
            <a:extLst xmlns:a="http://schemas.openxmlformats.org/drawingml/2006/main">
              <a:ext uri="{FF2B5EF4-FFF2-40B4-BE49-F238E27FC236}">
                <a16:creationId xmlns:a16="http://schemas.microsoft.com/office/drawing/2014/main" id="{B8AF4720-DD59-423C-83DF-8E48ABE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00" y="380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Evaluation Tools</a:t>
            </a:r>
          </a:p>
        </p:txBody>
      </p:sp>
      <p:sp>
        <p:nvSpPr>
          <p:cNvPr id="227" name="Desc6">
            <a:extLst xmlns:a="http://schemas.openxmlformats.org/drawingml/2006/main">
              <a:ext uri="{FF2B5EF4-FFF2-40B4-BE49-F238E27FC236}">
                <a16:creationId xmlns:a16="http://schemas.microsoft.com/office/drawing/2014/main" id="{5C67344A-71B6-43B2-9CA5-1A1061EA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400" y="408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Matplotlib; accuracy, F1 and ROC-AUC</a:t>
            </a:r>
          </a:p>
        </p:txBody>
      </p:sp>
      <p:sp>
        <p:nvSpPr>
          <p:cNvPr id="228" name="Card7">
            <a:extLst xmlns:a="http://schemas.openxmlformats.org/drawingml/2006/main">
              <a:ext uri="{FF2B5EF4-FFF2-40B4-BE49-F238E27FC236}">
                <a16:creationId xmlns:a16="http://schemas.microsoft.com/office/drawing/2014/main" id="{A8DE7EC1-4C73-42BA-8866-909B205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800" y="315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9" name="Icon7">
            <a:extLst xmlns:a="http://schemas.openxmlformats.org/drawingml/2006/main">
              <a:ext uri="{FF2B5EF4-FFF2-40B4-BE49-F238E27FC236}">
                <a16:creationId xmlns:a16="http://schemas.microsoft.com/office/drawing/2014/main" id="{27827840-7EE1-4DCC-AC38-5AFB726E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000" y="328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30" name="Title7">
            <a:extLst xmlns:a="http://schemas.openxmlformats.org/drawingml/2006/main">
              <a:ext uri="{FF2B5EF4-FFF2-40B4-BE49-F238E27FC236}">
                <a16:creationId xmlns:a16="http://schemas.microsoft.com/office/drawing/2014/main" id="{9D739ABC-D26A-480C-83D3-E9C090B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800" y="380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Datasets</a:t>
            </a:r>
          </a:p>
        </p:txBody>
      </p:sp>
      <p:sp>
        <p:nvSpPr>
          <p:cNvPr id="231" name="Desc7">
            <a:extLst xmlns:a="http://schemas.openxmlformats.org/drawingml/2006/main">
              <a:ext uri="{FF2B5EF4-FFF2-40B4-BE49-F238E27FC236}">
                <a16:creationId xmlns:a16="http://schemas.microsoft.com/office/drawing/2014/main" id="{ADC03763-F009-482E-80A3-EE8F603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800" y="408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Edge-IIoTset (100,000-row balanced sample)</a:t>
            </a:r>
          </a:p>
        </p:txBody>
      </p:sp>
      <p:sp>
        <p:nvSpPr>
          <p:cNvPr id="232" name="Card8">
            <a:extLst xmlns:a="http://schemas.openxmlformats.org/drawingml/2006/main">
              <a:ext uri="{FF2B5EF4-FFF2-40B4-BE49-F238E27FC236}">
                <a16:creationId xmlns:a16="http://schemas.microsoft.com/office/drawing/2014/main" id="{58DE9DB3-E556-4AA1-83BC-E31CC01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00" y="315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3" name="Icon8">
            <a:extLst xmlns:a="http://schemas.openxmlformats.org/drawingml/2006/main">
              <a:ext uri="{FF2B5EF4-FFF2-40B4-BE49-F238E27FC236}">
                <a16:creationId xmlns:a16="http://schemas.microsoft.com/office/drawing/2014/main" id="{A22A1785-80D7-4533-BE9D-8C5C9B7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400" y="328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234" name="Title8">
            <a:extLst xmlns:a="http://schemas.openxmlformats.org/drawingml/2006/main">
              <a:ext uri="{FF2B5EF4-FFF2-40B4-BE49-F238E27FC236}">
                <a16:creationId xmlns:a16="http://schemas.microsoft.com/office/drawing/2014/main" id="{510A319F-19F9-4150-8E0F-8DA81E1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200" y="380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Database</a:t>
            </a:r>
          </a:p>
        </p:txBody>
      </p:sp>
      <p:sp>
        <p:nvSpPr>
          <p:cNvPr id="235" name="Desc8">
            <a:extLst xmlns:a="http://schemas.openxmlformats.org/drawingml/2006/main">
              <a:ext uri="{FF2B5EF4-FFF2-40B4-BE49-F238E27FC236}">
                <a16:creationId xmlns:a16="http://schemas.microsoft.com/office/drawing/2014/main" id="{356F025B-680A-4BFD-9FD6-CAE06DC9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200" y="408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Planned: InfluxDB for live telemetry</a:t>
            </a:r>
          </a:p>
        </p:txBody>
      </p:sp>
      <p:sp>
        <p:nvSpPr>
          <p:cNvPr id="236" name="Card9">
            <a:extLst xmlns:a="http://schemas.openxmlformats.org/drawingml/2006/main">
              <a:ext uri="{FF2B5EF4-FFF2-40B4-BE49-F238E27FC236}">
                <a16:creationId xmlns:a16="http://schemas.microsoft.com/office/drawing/2014/main" id="{3CF2B05B-16DE-48B3-B86F-B0E63306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00" y="3157008"/>
            <a:ext cx="2230400" cy="175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6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Icon9">
            <a:extLst xmlns:a="http://schemas.openxmlformats.org/drawingml/2006/main">
              <a:ext uri="{FF2B5EF4-FFF2-40B4-BE49-F238E27FC236}">
                <a16:creationId xmlns:a16="http://schemas.microsoft.com/office/drawing/2014/main" id="{ABF85EA6-C150-429C-9F23-532B12C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800" y="3287008"/>
            <a:ext cx="460000" cy="4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5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VCS</a:t>
            </a:r>
          </a:p>
        </p:txBody>
      </p:sp>
      <p:sp>
        <p:nvSpPr>
          <p:cNvPr id="238" name="Title9">
            <a:extLst xmlns:a="http://schemas.openxmlformats.org/drawingml/2006/main">
              <a:ext uri="{FF2B5EF4-FFF2-40B4-BE49-F238E27FC236}">
                <a16:creationId xmlns:a16="http://schemas.microsoft.com/office/drawing/2014/main" id="{AF083B36-2028-46EC-B266-2CA3071E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600" y="3807008"/>
            <a:ext cx="21504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E2761"/>
                </a:solidFill>
              </a:rPr>
              <a:t>Dev &amp; VCS</a:t>
            </a:r>
          </a:p>
        </p:txBody>
      </p:sp>
      <p:sp>
        <p:nvSpPr>
          <p:cNvPr id="239" name="Desc9">
            <a:extLst xmlns:a="http://schemas.openxmlformats.org/drawingml/2006/main">
              <a:ext uri="{FF2B5EF4-FFF2-40B4-BE49-F238E27FC236}">
                <a16:creationId xmlns:a16="http://schemas.microsoft.com/office/drawing/2014/main" id="{09604FCD-F7FC-466D-8FFC-21572B48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00" y="4087008"/>
            <a:ext cx="20904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55555"/>
                </a:solidFill>
              </a:rPr>
              <a:t>VS Code, Jupyter, Git, GitHub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2AE87A20-B098-46EF-9C7C-A76EFB33EC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152400" lvl="0" algn="ctr">
              <a:lnSpc>
                <a:spcPct val="200000"/>
              </a:lnSpc>
              <a:buNone/>
            </a:pPr>
            <a:r>
              <a:rPr>
                <a:latin typeface="Cambria"/>
                <a:ea typeface="Cambria"/>
                <a:cs typeface="Cambria"/>
              </a:rPr>
              <a:t>Project Repository</a:t>
            </a:r>
          </a:p>
        </p:txBody>
      </p:sp>
      <p:sp>
        <p:nvSp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D8BB3628-E613-4A8E-BCF2-E08ACB69AF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800" y="1143000"/>
            <a:ext cx="10668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342900" lvl="0" indent="-1905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lvl="0" indent="-1905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lvl="0" indent="-1905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lvl="0" indent="-1905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lvl="0" indent="-1905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75404658-8CB3-4806-BEB4-892468EE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143000"/>
            <a:ext cx="10668000" cy="417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 lnSpcReduction="10000"/>
          </a:bodyPr>
          <a:lstStyle xmlns:a="http://schemas.openxmlformats.org/drawingml/2006/main">
            <a:defPPr algn="l"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defPPr>
            <a:lvl1pPr marL="4572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  <a:lvl2pPr marL="914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L="1371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L="18288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L="22860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L="27432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6pPr>
            <a:lvl7pPr marL="32004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7pPr>
            <a:lvl8pPr marL="3657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8pPr>
            <a:lvl9pPr marL="41148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9pPr>
          </a:lstStyle>
          <a:p xmlns:a="http://schemas.openxmlformats.org/drawingml/2006/main">
            <a:pPr marL="342900" indent="-190500" algn="l">
              <a:spcBef>
                <a:spcPts val="0"/>
              </a:spcBef>
              <a:buSzPct val="100000"/>
              <a:buFont typeface="Arial"/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Project repository</a:t>
            </a:r>
          </a:p>
          <a:p xmlns:a="http://schemas.openxmlformats.org/drawingml/2006/main">
            <a:pPr marL="342900" indent="-190500" algn="l">
              <a:spcBef>
                <a:spcPts val="0"/>
              </a:spcBef>
              <a:buSzPct val="100000"/>
              <a:buFont typeface="Arial"/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https://github.com/sona-rajendren/AI-Based-DDoS-Detection-IoT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indent="-190500" algn="just">
              <a:spcBef>
                <a:spcPts val="0"/>
              </a:spcBef>
              <a:buSzPct val="100000"/>
              <a:buNone/>
            </a:pPr>
            <a:r>
              <a:rPr b="1">
                <a:solidFill>
                  <a:schemeClr val="accent2">
                    <a:lumMod val="75000"/>
                  </a:schemeClr>
                </a:solidFill>
                <a:latin typeface="Cambria"/>
                <a:ea typeface="Cambria"/>
                <a:cs typeface="Cambria"/>
              </a:rPr>
              <a:t/>
            </a:r>
          </a:p>
          <a:p xmlns:a="http://schemas.openxmlformats.org/drawingml/2006/main">
            <a:pPr marL="342900" indent="-190500" algn="l">
              <a:spcBef>
                <a:spcPts val="0"/>
              </a:spcBef>
              <a:buSzPct val="100000"/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2B45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d8979f71194b43"/>
              </a:rPr>
              <a:t>Review II includes</a:t>
            </a:r>
            <a:endParaRPr b="1">
              <a:solidFill>
                <a:schemeClr val="accent2">
                  <a:lumMod val="75000"/>
                </a:schemeClr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indent="-190500" algn="l">
              <a:spcBef>
                <a:spcPts val="0"/>
              </a:spcBef>
              <a:buSzPct val="100000"/>
              <a:buFont typeface="Arial"/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• Dataset pipeline and EDA</a:t>
            </a:r>
            <a:endParaRPr b="1">
              <a:solidFill>
                <a:schemeClr val="accent2">
                  <a:lumMod val="75000"/>
                </a:schemeClr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76200" indent="0" algn="l"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 b="1" u="sng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• Decision Tree and Naive Bayes baselines</a:t>
            </a:r>
          </a:p>
          <a:p xmlns:a="http://schemas.openxmlformats.org/drawingml/2006/main">
            <a:pPr algn="l"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• FedAvg simulation and Flower client/server</a:t>
            </a:r>
          </a:p>
          <a:p xmlns:a="http://schemas.openxmlformats.org/drawingml/2006/main">
            <a:pPr algn="l"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• Automated tests, saved models and reports</a:t>
            </a:r>
          </a:p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  <a:latin typeface="Cambria"/>
                <a:ea typeface="Cambria"/>
                <a:cs typeface="Cambria"/>
              </a:rPr>
              <a:t/>
            </a:r>
          </a:p>
          <a:p xmlns:a="http://schemas.openxmlformats.org/drawingml/2006/main">
            <a:pPr lvl="0" algn="l">
              <a:buNone/>
              <a:defRPr sz="1950">
                <a:solidFill>
                  <a:srgbClr val="222B45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222B45"/>
                </a:solidFill>
                <a:latin typeface="Calibri"/>
                <a:ea typeface="Calibri"/>
                <a:cs typeface="Calibri"/>
              </a:rPr>
              <a:t>Next: Sprint 3 alerts and mitigation, followed by evaluation and final demo.</a:t>
            </a:r>
          </a:p>
        </p:txBody>
      </p:sp>
    </p:spTree>
    <p:extLst>
      <p:ext uri="{BB962C8B-B14F-4D97-AF65-F5344CB8AC3E}">
        <p14:creationId xmlns:p14="http://schemas.microsoft.com/office/powerpoint/2010/main" val="600411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B656A33A-2E95-43DF-B1A6-27349E6C4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>
                <a:latin typeface="Cambria"/>
                <a:ea typeface="Cambria"/>
                <a:cs typeface="Cambria"/>
              </a:rPr>
              <a:t>Project Timeline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D98F5F-3805-0F3F-EE78-8DAFAB53A1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367283" y="964000"/>
            <a:ext cx="2456122" cy="45259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600" b="1"/>
              <a:t>Review 1 : 7 Sept 2026</a:t>
            </a:r>
          </a:p>
          <a:p xmlns:a="http://schemas.openxmlformats.org/drawingml/2006/main">
            <a:pPr algn="l">
              <a:buNone/>
            </a:pPr>
            <a:r>
              <a:rPr sz="1600" b="1"/>
              <a:t>Review 2 : 22-27 Oct 2026</a:t>
            </a:r>
          </a:p>
          <a:p xmlns:a="http://schemas.openxmlformats.org/drawingml/2006/main">
            <a:endParaRPr sz="1800" b="1"/>
          </a:p>
          <a:p xmlns:a="http://schemas.openxmlformats.org/drawingml/2006/main">
            <a:r>
              <a:rPr sz="1600" b="1"/>
              <a:t>Final Demo &amp; Report Submission : 10 Dec 2026</a:t>
            </a:r>
          </a:p>
          <a:p xmlns:a="http://schemas.openxmlformats.org/drawingml/2006/main">
            <a:endParaRPr sz="1800" b="1"/>
          </a:p>
          <a:p xmlns:a="http://schemas.openxmlformats.org/drawingml/2006/main">
            <a:r>
              <a:rPr sz="1600" b="1"/>
              <a:t>Sprints 1-2 complete; Sprint 3 (alerts, mitigation) is next</a:t>
            </a:r>
          </a:p>
        </p:txBody>
      </p:sp>
      <p:pic>
        <p:nvPicPr>
          <p:cNvPr id="115" name="Picture 114">
            <a:extLst xmlns:a="http://schemas.openxmlformats.org/drawingml/2006/main">
              <a:ext uri="{FF2B5EF4-FFF2-40B4-BE49-F238E27FC236}">
                <a16:creationId xmlns:a16="http://schemas.microsoft.com/office/drawing/2014/main" id="{D42EB0E3-2293-433A-9CC4-68F89EA89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b36a51f3a44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" y="1152015"/>
            <a:ext cx="8453120" cy="42242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8435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2">
            <a:extLst xmlns:a="http://schemas.openxmlformats.org/drawingml/2006/main">
              <a:ext uri="{FF2B5EF4-FFF2-40B4-BE49-F238E27FC236}">
                <a16:creationId xmlns:a16="http://schemas.microsoft.com/office/drawing/2014/main" id="{1D0642DA-5F21-4A5A-9540-260F3B488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0668000" cy="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None/>
            </a:pPr>
            <a:r>
              <a:rPr>
                <a:latin typeface="Cambria"/>
                <a:ea typeface="Cambria"/>
                <a:cs typeface="Cambria"/>
              </a:rPr>
              <a:t>References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145" name="Google Shape;145;p22">
            <a:extLst xmlns:a="http://schemas.openxmlformats.org/drawingml/2006/main">
              <a:ext uri="{FF2B5EF4-FFF2-40B4-BE49-F238E27FC236}">
                <a16:creationId xmlns:a16="http://schemas.microsoft.com/office/drawing/2014/main" id="{B60F56A4-9D14-487C-9A40-A42A237B62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800" y="1143001"/>
            <a:ext cx="10668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/>
          <a:lstStyle xmlns:a="http://schemas.openxmlformats.org/drawingml/2006/main"/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[1] M. A. Ferrag et al.</a:t>
            </a:r>
            <a:r>
              <a:rPr sz="1800" b="0"/>
              <a:t> “Edge-IIoTset: A new comprehensive realistic cyber security dataset of IoT and IIoT applications for centralized and federated learning,” IEEE Access, vol. 10, pp. 40281–40306, 2022.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[2] B. McMahan et al.</a:t>
            </a:r>
            <a:r>
              <a:rPr sz="1800" b="0"/>
              <a:t> “Communication-efficient learning of deep networks from decentralized data,” in Proc. AISTATS, PMLR vol. 54, 2017, pp. 1273–1282.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[3] D. J. Beutel et al.</a:t>
            </a:r>
            <a:r>
              <a:rPr sz="1800" b="0"/>
              <a:t> “Flower: A friendly federated learning research framework,” arXiv:2007.14390, 2020.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[4] H. Hindy et al.</a:t>
            </a:r>
            <a:r>
              <a:rPr sz="1800" b="0"/>
              <a:t> “Machine learning based IoT intrusion detection system: An MQTT case study (MQTT-IoT-IDS2020 dataset),” in Proc. INC 2020, LNNS, Springer, 2021.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[5] M. A. Khan et al.</a:t>
            </a:r>
            <a:r>
              <a:rPr sz="1800" b="0"/>
              <a:t> “A deep learning-based intrusion detection system for MQTT enabled IoT,” Sensors, vol. 21, no. 21, art. 7016, 2021.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[6] C. Kolias et al.</a:t>
            </a:r>
            <a:r>
              <a:rPr sz="1800" b="0"/>
              <a:t> “DDoS in the IoT: Mirai and other botnets,” Computer, vol. 50, no. 7, pp. 80–84, 2017.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[7] V. Mothukuri et al.</a:t>
            </a:r>
            <a:r>
              <a:rPr sz="1800" b="0"/>
              <a:t> “Federated-learning-based anomaly detection for IoT security attacks,” IEEE Internet Things J., vol. 9, no. 4, pp. 2545–2554, 2022.</a:t>
            </a:r>
          </a:p>
          <a:p xmlns:a="http://schemas.openxmlformats.org/drawingml/2006/main">
            <a:pPr marL="438150" indent="-285750">
              <a:spcBef>
                <a:spcPts val="0"/>
              </a:spcBef>
              <a:spcAft>
                <a:spcPts val="500"/>
              </a:spcAft>
              <a:buNone/>
            </a:pPr>
            <a:r>
              <a:rPr sz="1800" b="1"/>
              <a:t>[8] S. A. Rahman et al.</a:t>
            </a:r>
            <a:r>
              <a:rPr sz="1800" b="0"/>
              <a:t> “Internet of Things intrusion detection: Centralized, on-device, or federated learning?,” IEEE Netw., vol. 34, no. 6, pp. 310–317, 2020.</a:t>
            </a:r>
          </a:p>
        </p:txBody>
      </p:sp>
    </p:spTree>
    <p:extLst>
      <p:ext uri="{BB962C8B-B14F-4D97-AF65-F5344CB8AC3E}">
        <p14:creationId xmlns:p14="http://schemas.microsoft.com/office/powerpoint/2010/main" val="14490564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E4CC017-052B-4C35-8AAC-57C3C71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2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4B1A5FDE-824B-4943-8169-9F3A3EE9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936909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2026-10-29T19:47:15.1670000Z</dcterms:created>
  <dcterms:modified xsi:type="dcterms:W3CDTF">2026-10-29T19:47:15.1670000Z</dcterms:modified>
</coreProperties>
</file>